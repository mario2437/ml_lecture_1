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00000" y="1500000"/>
            <a:ext cx="95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A5B4CB"/>
                </a:solidFill>
                <a:latin typeface="맑은 고딕"/>
                <a:ea typeface="맑은 고딕"/>
              </a:rPr>
              <a:t>2026 경기도 공유학교 · 인공지능 기초  ·  5회차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2000000"/>
            <a:ext cx="980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강화학습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365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DDE3EE"/>
                </a:solidFill>
                <a:latin typeface="맑은 고딕"/>
                <a:ea typeface="맑은 고딕"/>
              </a:rPr>
              <a:t>"정답을 알려 주지 않아도, 점수만 주면 스스로 배운다"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450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오늘: 강아지 훈련 → 에이전트·환경·보상 → Q-learning → 보상표를 바꾸면 행동이 바뀐다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483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실습: 5×5 미로에서 스스로 길을 찾는 AI를 numpy로 직접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5160000"/>
            <a:ext cx="9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A5B4CB"/>
                </a:solidFill>
                <a:latin typeface="맑은 고딕"/>
                <a:ea typeface="맑은 고딕"/>
              </a:rPr>
              <a:t>—  오늘의 결과물: 내가 설계한 보상표 + 학습된 정책 그림 + 설명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학습목표와 오늘의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강의 45분 + Colab 실습 60분 + 정리·평가 15분 — 성취기준 [인일 03-03] 강화학습의 특성과 알고리즘 종류 파악, 보상 체계에 맞는 알고리즘 선정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학습목표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미로 게임에서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에이전트·환경·상태·행동·보상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찾아 말한다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Q-learning이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점수표를 고쳐 가며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배우는 원리를 설명한다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보상 체계를 직접 설계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하고, 보상이 바뀌면 행동이 바뀌는 것을 실험으로 보인다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가치 기반·정책 기반 등 알고리즘의 큰 갈래를 안다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32000" y="1400000"/>
          <a:ext cx="5400000" cy="1840152"/>
        </p:xfrm>
        <a:graphic>
          <a:graphicData uri="http://schemas.openxmlformats.org/drawingml/2006/table">
            <a:tbl>
              <a:tblPr firstRow="0" bandRow="0"/>
              <a:tblGrid>
                <a:gridCol w="950000"/>
                <a:gridCol w="3200000"/>
                <a:gridCol w="1250000"/>
              </a:tblGrid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형태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지난 시간 복습 · 오늘의 목표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0:05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1 강화학습이란 — 용어·탐험과 활용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20분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0:25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2 Q-learning 원리 · 보상 설계 · 알고리즘 종류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강의 20분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PART 3 Colab 실습 (셀 0~12)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실습 60분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06692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1:45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 공유 · 퀴즈 · 정리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0000" y="4100000"/>
            <a:ext cx="11072000" cy="6191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4160000"/>
            <a:ext cx="50000" cy="4991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200000"/>
            <a:ext cx="10732000" cy="419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B2A4A"/>
                </a:solidFill>
                <a:latin typeface="맑은 고딕"/>
                <a:ea typeface="맑은 고딕"/>
              </a:rPr>
              <a:t>실습 환경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준비물: 구글 계정 + 크롬 브라우저. Colab에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05_강화학습기초_실습_colab.ipynb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를 업로드해 두세요. 설치할 것은 없습니다.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62865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지난 시간까지 — 세 가지 학습 방식 중 마지막 조각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지도학습(정답 있음) · 비지도학습(정답 없음) · 그리고 오늘: 정답 대신 "점수"로 배우는 강화학습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900000"/>
        </p:xfrm>
        <a:graphic>
          <a:graphicData uri="http://schemas.openxmlformats.org/drawingml/2006/table">
            <a:tbl>
              <a:tblPr firstRow="0" bandRow="0"/>
              <a:tblGrid>
                <a:gridCol w="1800000"/>
                <a:gridCol w="3100000"/>
                <a:gridCol w="3100000"/>
                <a:gridCol w="30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지도학습 (2·3회차)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비지도학습 (4회차)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강화학습 (오늘)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무엇이 주어지나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 +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 +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행동의 결과 점수(보상)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무엇을 배우나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입력→정답 규칙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데이터의 숨은 구조(군집)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점수를 많이 받는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행동 규칙(정책)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예시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사진→고양이/개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고객을 3그룹으로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게임 이기기 · 로봇 걷기 · 추천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데이터는 어디서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미리 모아 둔 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미리 모아 둔 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직접 행동하며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만들어 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0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060000"/>
            <a:ext cx="50000" cy="299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1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지도학습은 "선생님이 답을 알려 주는 공부", 강화학습은 "게임을 하면서 점수로 배우는 공부". 답을 미리 적어 둘 수 없는 문제(게임·운전·로봇)에 강화학습을 씁니다.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상과 벌로 배우는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강아지 훈련부터 알파고까지 — 강화학습의 구성 요소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F5BD5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강아지는 어떻게 "앉아"를 배우나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에이전트·환경·상태·행동·보상·정책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오늘의 무대: 5×5 미로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F5BD5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탐험과 활용의 줄다리기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66543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상과 벌로 배우는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강아지는 어떻게 "앉아"를 배울까?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정답 동작을 보여 주는 게 아니라, 잘했을 때 간식을 준다 — 이것이 강화학습의 출발점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0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강아지가 이것저것 해 본다
(짖기·눕기·앉기…)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3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43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우연히 앉았을 때
간식(보상)을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26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"앉으면 좋은 일이 생긴다"
를 기억한다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9000" y="1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09000" y="1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앉는 행동이 점점
자주 나온다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21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210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핵심 아이디어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26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정답을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알려 주지 않는다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— 결과에 점수만 준다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처음엔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아무렇게나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해 보며 경험을 쌓는다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점수가 좋았던 행동을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더 자주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하게 된다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시행착오(trial and error)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로 배우는 학습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2000" y="2100000"/>
            <a:ext cx="5400000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32000" y="2100000"/>
            <a:ext cx="5400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12000" y="22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같은 원리로 배운 AI들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000" y="2620000"/>
            <a:ext cx="504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알파고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: 바둑 이기면 +1, 지면 −1 → 스스로 수백만 판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게임 AI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: 점수를 보상으로 아타리·스타크래프트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로봇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: 넘어지지 않고 걸으면 보상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ChatGPT 다듬기(RLHF)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: 사람이 좋아한 답에 보상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455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0000" y="4610000"/>
            <a:ext cx="50000" cy="299075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0000" y="465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질문: 시험 공부(정답지 보고 외우기)와 자전거 배우기(넘어지며 익히기) 중 어느 쪽이 강화학습에 가까울까요?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66543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상과 벌로 배우는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강화학습의 기본 루프 — 행동하고, 점수 받고, 고친다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에이전트(학습자)와 환경(세상)이 주고받는 것은 딱 세 가지: 행동 · 상태 · 보상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pic>
        <p:nvPicPr>
          <p:cNvPr id="8" name="Picture 7" descr="01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600000" cy="2941879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360000" y="1400000"/>
            <a:ext cx="42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에이전트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배우는 주체 (강아지·게임 캐릭터·로봇)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환경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에이전트가 사는 세상 (미로·게임판·도로)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상태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지금 상황 (내 위치·점수판·화면)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행동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에이전트가 고를 수 있는 선택 (상하좌우)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보상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행동 직후 받는 점수 (+10, −10, 0…)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4F5BD5"/>
                </a:solidFill>
                <a:latin typeface="맑은 고딕"/>
                <a:ea typeface="맑은 고딕"/>
              </a:rPr>
              <a:t>정책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"어떤 상태에서 어떤 행동을 할지"의 규칙 =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배우는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" y="46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0000" y="4660000"/>
            <a:ext cx="50000" cy="299075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0000" y="47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목표는 한 번의 점수가 아니라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한 판 동안 받는 보상의 합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을 크게 만드는 정책을 찾는 것. 지금 당장 −1이어도 나중에 +10이면 좋은 선택입니다.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66543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상과 벌로 배우는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오늘의 무대 — 5×5 미로 (GridWorld)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왼쪽 위 S에서 출발해 함정 X를 피해 오른쪽 아래 G에 도착하면 게임 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pic>
        <p:nvPicPr>
          <p:cNvPr id="8" name="Picture 7" descr="02_grid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3674261" cy="390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60000" y="1400000"/>
          <a:ext cx="6772000" cy="2280000"/>
        </p:xfrm>
        <a:graphic>
          <a:graphicData uri="http://schemas.openxmlformats.org/drawingml/2006/table">
            <a:tbl>
              <a:tblPr firstRow="0" bandRow="0"/>
              <a:tblGrid>
                <a:gridCol w="1500000"/>
                <a:gridCol w="52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요소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 미로에서는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4F5BD5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지금 있는 칸의 좌표 (행, 열) — 25가지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행동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↑ ↓ ← → 4가지 (벽이면 제자리)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보상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목표 도착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+10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· 함정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· 한 걸음 </a:t>
                      </a:r>
                      <a:r>
                        <a:rPr sz="11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한 판(에피소드)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S에서 출발 → 목표·함정에 닿거나 50걸음이면 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25개 칸마다 "어느 방향" — 화살표 지도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860000" y="4200000"/>
            <a:ext cx="6772000" cy="40955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860000" y="4260000"/>
            <a:ext cx="50000" cy="2895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60000" y="4300000"/>
            <a:ext cx="64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함정과 걸음의 보상은 비워 두었습니다.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이 값을 여러분이 설계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하는 것이 오늘 실습의 핵심입니다.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66543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상과 벌로 배우는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배우지 않은 에이전트 — 주사위처럼 움직이면?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무작위 행동 100판: 성공률 2%, 평균 15걸음 만에 함정이나 시간 초과 (실습 셀 2·3에서 직접 확인)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pic>
        <p:nvPicPr>
          <p:cNvPr id="8" name="Picture 7" descr="09_random_vs_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7200000" cy="3501474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960000" y="1400000"/>
            <a:ext cx="36720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960000" y="1400000"/>
            <a:ext cx="3672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40000" y="1570000"/>
            <a:ext cx="33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무작위 vs 학습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000" y="1920000"/>
            <a:ext cx="3312000" cy="2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무작위: 100판 중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2판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성공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학습 후: 8걸음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최단 경로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로 도착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차이를 만든 것 = 경험을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점수표에 기록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한 것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그 점수표가 다음 슬라이드의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Q-table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066543" cy="2500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1 · 상과 벌로 배우는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탐험 vs 활용 — 아는 길만 갈까, 새 길을 찾아볼까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늘 가던 식당(활용)만 가면 더 맛있는 집(탐험)을 영영 모른다 — ε(입실론)의 확률로 모험한다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pic>
        <p:nvPicPr>
          <p:cNvPr id="8" name="Picture 7" descr="04_expl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7000000" cy="3213803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760000" y="1400000"/>
            <a:ext cx="3872000" cy="3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60000" y="1400000"/>
            <a:ext cx="3872000" cy="70000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40000" y="1570000"/>
            <a:ext cx="35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5BD5"/>
                </a:solidFill>
                <a:latin typeface="맑은 고딕"/>
                <a:ea typeface="맑은 고딕"/>
              </a:rPr>
              <a:t>ε-greedy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0000" y="1920000"/>
            <a:ext cx="3512000" cy="2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ε = 0.2 → 10번 중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2번은 아무 행동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나머지 8번은 점수표에서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최고 점수 행동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ε이 너무 작으면: 처음 찾은 길에 갇힘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ε이 너무 크면: 배운 뒤에도 자꾸 헤맴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4F5BD5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실습 "직접 해보기 2"에서 ε을 바꿔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Q-learning과 보상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점수표를 고쳐 가며 배운다 — 그리고 점수표를 정하는 사람은 누구인가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E8C8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Q-table: 상태×행동 점수표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Q-learning 갱신 규칙 (한 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보상 설계가 행동을 바꾼다 · 보상 해킹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E8C8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알고리즘의 두 갈래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334005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Q-learning과 보상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Q-table — "이 행동을 하면 앞으로 얼마나 좋을까" 점수표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25칸 × 4행동 = 100개의 숫자. 처음엔 전부 0, 경험할 때마다 조금씩 고친다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pic>
        <p:nvPicPr>
          <p:cNvPr id="8" name="Picture 7" descr="03_q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7000000" cy="2922634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760000" y="1400000"/>
            <a:ext cx="3872000" cy="3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60000" y="1400000"/>
            <a:ext cx="3872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40000" y="1570000"/>
            <a:ext cx="35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읽는 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0000" y="1920000"/>
            <a:ext cx="3512000" cy="2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행 = 상태(칸), 열 = 행동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값 = 그 행동을 한 뒤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앞으로 받을 보상의 합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(예상)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다 배운 뒤엔 칸마다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가장 큰 값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을 고르면 끝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값이 큰 칸일수록 목표에 가까운 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4700000"/>
            <a:ext cx="11072000" cy="40955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4760000"/>
            <a:ext cx="50000" cy="2895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800000"/>
            <a:ext cx="10732000" cy="209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"Q"는 행동의 질(Quality)이라는 뜻. 실습에서는 </a:t>
            </a: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Q = np.zeros((5, 5, 4))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한 줄로 만듭니다.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334005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Q-learning과 보상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Q-learning 갱신 규칙 — 딱 한 줄로 배운다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한 걸음 움직여 (상태 s, 행동 a, 보상 r, 새 상태 s′)를 겪을 때마다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11072000" cy="854339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0000" cy="854339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0000" y="1500000"/>
            <a:ext cx="10772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E8C86"/>
                </a:solidFill>
                <a:latin typeface="맑은 고딕"/>
                <a:ea typeface="맑은 고딕"/>
              </a:rPr>
              <a:t>Q-learning 갱신식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1720000"/>
            <a:ext cx="10772000" cy="6543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800" b="0" i="0">
                <a:solidFill>
                  <a:srgbClr val="1F2937"/>
                </a:solidFill>
                <a:latin typeface="Cambria Math"/>
                <a:ea typeface="맑은 고딕"/>
              </a:rPr>
              <a:t>Q(s, a)  ←  Q(s, a)  +  α · [ r  +  γ · max Q(s′, ·)  −  Q(s, a)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2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0000" y="2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E8C86"/>
                </a:solidFill>
                <a:latin typeface="맑은 고딕"/>
                <a:ea typeface="맑은 고딕"/>
              </a:rPr>
              <a:t>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지금 적힌 점수
Q(s, 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3000" y="2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43000" y="2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E8C86"/>
                </a:solidFill>
                <a:latin typeface="맑은 고딕"/>
                <a:ea typeface="맑은 고딕"/>
              </a:rPr>
              <a:t>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방금 받은 보상 r
+ 다음 칸의 최고 점수 × 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000" y="2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26000" y="2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E8C86"/>
                </a:solidFill>
                <a:latin typeface="맑은 고딕"/>
                <a:ea typeface="맑은 고딕"/>
              </a:rPr>
              <a:t>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둘의 차이(오차)를
구한다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9000" y="2400000"/>
            <a:ext cx="2723000" cy="420000"/>
          </a:xfrm>
          <a:prstGeom prst="roundRect">
            <a:avLst>
              <a:gd name="adj" fmla="val 15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09000" y="2430000"/>
            <a:ext cx="2723000" cy="3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0E8C86"/>
                </a:solidFill>
                <a:latin typeface="맑은 고딕"/>
                <a:ea typeface="맑은 고딕"/>
              </a:rPr>
              <a:t>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F2937"/>
                </a:solidFill>
                <a:latin typeface="맑은 고딕"/>
                <a:ea typeface="맑은 고딕"/>
              </a:rPr>
              <a:t>오차의 α만큼만
점수를 옮긴다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0000" y="3150000"/>
          <a:ext cx="11072000" cy="1320000"/>
        </p:xfrm>
        <a:graphic>
          <a:graphicData uri="http://schemas.openxmlformats.org/drawingml/2006/table">
            <a:tbl>
              <a:tblPr firstRow="0" bandRow="0"/>
              <a:tblGrid>
                <a:gridCol w="1300000"/>
                <a:gridCol w="2100000"/>
                <a:gridCol w="5000000"/>
                <a:gridCol w="2672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뜻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오늘 값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α (알파)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학습률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한 번에 얼마나 크게 고칠까 (0~1)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γ (감마)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할인율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미래 보상을 얼마나 중요하게 볼까 (1에 가까울수록 멀리 봄)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ε (입실론)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탐험 확률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얼마나 자주 모험할까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0.2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60000" y="4800000"/>
            <a:ext cx="11072000" cy="638150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60000" y="4860000"/>
            <a:ext cx="50000" cy="51815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0000" y="4900000"/>
            <a:ext cx="10732000" cy="438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말로: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"지금 점수를 → (받은 보상 + 다음 칸 기대치) 쪽으로 조금 옮긴다."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목표·함정에서 끝나면 다음 칸이 없으니 보상 r만 씁니다. 코드로는 </a:t>
            </a:r>
            <a:r>
              <a:rPr sz="1150" b="0" i="0">
                <a:solidFill>
                  <a:srgbClr val="1F4E79"/>
                </a:solidFill>
                <a:latin typeface="맑은 고딕"/>
                <a:ea typeface="맑은 고딕"/>
              </a:rPr>
              <a:t>Q[s][a] += alpha * (target - Q[s][a])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 한 줄.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334005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Q-learning과 보상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1500판을 하고 나면 — 학습 곡선과 정책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처음엔 함정에 빠져 −10, 뒤로 갈수록 +10 근처. 화살표 지도가 곧 "정책"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pic>
        <p:nvPicPr>
          <p:cNvPr id="8" name="Picture 7" descr="05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6500000" cy="2899927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pic>
        <p:nvPicPr>
          <p:cNvPr id="9" name="Picture 8" descr="06_pol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000" y="1400000"/>
            <a:ext cx="3203202" cy="34000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560000" y="495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0000" y="5010000"/>
            <a:ext cx="50000" cy="299075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0000" y="505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학습 곡선이 오르면 "배우고 있다"는 뜻. 회색이 들쭉날쭉한 것은 ε 탐험 때문 — 이동 평균(파란 선)으로 봅니다. 화살표는 칸마다 Q값이 가장 큰 행동.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334005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Q-learning과 보상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보상표를 바꾸면 행동이 바뀐다 — 같은 알고리즘, 다른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함정 벌점·걸음 비용을 바꿔 학습시킨 4가지 결과 (실습 셀 8)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pic>
        <p:nvPicPr>
          <p:cNvPr id="8" name="Picture 7" descr="07_reward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11072000" cy="3295605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0000" y="4600000"/>
          <a:ext cx="11072000" cy="1484250"/>
        </p:xfrm>
        <a:graphic>
          <a:graphicData uri="http://schemas.openxmlformats.org/drawingml/2006/table">
            <a:tbl>
              <a:tblPr firstRow="0" bandRow="0"/>
              <a:tblGrid>
                <a:gridCol w="2600000"/>
                <a:gridCol w="1300000"/>
                <a:gridCol w="1300000"/>
                <a:gridCol w="1300000"/>
                <a:gridCol w="1500000"/>
                <a:gridCol w="3072000"/>
              </a:tblGrid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함정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한 걸음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① 목표만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+10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8걸음 도착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함정은 벌 없이 게임만 끝남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② 함정 벌점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+10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−10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8걸음 도착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함정 옆을 덜 지나는 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③ + 걸음 비용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+10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−10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−0.1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8걸음 도착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오래 헤매면 손해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④ 함정에 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+10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+5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3걸음 함정행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보상 해킹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334005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Q-learning과 보상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보상 해킹 — AI는 의도가 아니라 적힌 점수를 최대화한다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보상 설계가 잘못되면 AI는 규칙의 허점을 파고든다 — 실제 있었던 사례들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유명한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보트 경주 게임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결승선 대신 코스 중간의 점수 아이템만 빙빙 돌며 먹음 (결승 안 감)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청소 로봇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"쓰레기를 보면 벌점" → 카메라를 꺼 버림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로봇 팔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"물건을 잡은 것처럼 보이면 보상" → 카메라 앞에서 잡는 척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우리 미로 ④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: 함정에 +5를 줬더니 목표 대신 함정으로 직행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2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2000" y="1400000"/>
            <a:ext cx="5400000" cy="7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2000" y="157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0E8C86"/>
                </a:solidFill>
                <a:latin typeface="맑은 고딕"/>
                <a:ea typeface="맑은 고딕"/>
              </a:rPr>
              <a:t>좋은 보상표의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000" y="1920000"/>
            <a:ext cx="504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목표를 직접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보상하라 (중간 과정 말고 결과)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부작용에 벌점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을 주라 (함정·위험·비용)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희소 보상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(끝에만 +10)은 배우기 느림 → 걸음 비용·중간 보상으로 방향 힌트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E8C8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보상을 바꿨으면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행동이 의도대로인지 반드시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200000"/>
            <a:ext cx="11072000" cy="428600"/>
          </a:xfrm>
          <a:prstGeom prst="roundRect">
            <a:avLst>
              <a:gd name="adj" fmla="val 8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4260000"/>
            <a:ext cx="50000" cy="308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4300000"/>
            <a:ext cx="1073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오늘의 평가 포인트: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"내가 설계한 보상표가 내 의도대로 행동을 만들었는가"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를 실험으로 보이고 설명하기.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2334005" cy="25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2 · Q-learning과 보상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강화학습 알고리즘의 큰 두 갈래 — 이름만 알아 두자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Q-learning은 가치 기반의 대표. 신경망을 붙이면 DQN, 행동 확률을 직접 배우면 정책 기반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pic>
        <p:nvPicPr>
          <p:cNvPr id="8" name="Picture 7" descr="08_algo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" y="1400000"/>
            <a:ext cx="7000000" cy="3079466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60000" y="1400000"/>
          <a:ext cx="3872000" cy="2340155"/>
        </p:xfrm>
        <a:graphic>
          <a:graphicData uri="http://schemas.openxmlformats.org/drawingml/2006/table">
            <a:tbl>
              <a:tblPr firstRow="0" bandRow="0"/>
              <a:tblGrid>
                <a:gridCol w="1500000"/>
                <a:gridCol w="2372000"/>
              </a:tblGrid>
              <a:tr h="40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 상황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어울리는 갈래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0E8C86"/>
                    </a:solidFill>
                  </a:tcPr>
                </a:tc>
              </a:tr>
              <a:tr h="51338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상태·행동이 적다
(미로·틱택토)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표 기반 Q-learning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38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화면 이미지처럼
상태가 많다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DQN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(Q + 신경망)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51338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행동이 연속적
(핸들 각도·힘)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정책 기반</a:t>
                      </a:r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 (PPO 등)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사람 선호로 답 다듬기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RLHF (PPO 활용)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0000" y="48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E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0000" y="4860000"/>
            <a:ext cx="50000" cy="299075"/>
          </a:xfrm>
          <a:prstGeom prst="rect">
            <a:avLst/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0000" y="49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성취기준 "보상 체계에 적합한 알고리즘 선정": 오늘 미로는 상태 25개·행동 4개 →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표 기반 Q-learning이 충분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. 상태가 수백만 개면 표를 만들 수 없어 신경망(DQN)이 필요합니다.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Colab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5×5 미로에서 스스로 길을 찾는 AI를 numpy로 직접 만든다 (60분)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셀 0~3 환경 만들기 · 무작위 에이전트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셀 4~7 Q-table · Q-learning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셀 8 보상 설계 4종 비교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D97706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직접 해보기 2개 · 나의 보상표 제출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지도 — 셀 순서와 확인할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위에서부터 순서대로 Shift+Enter. 각 셀에서 "무엇을 확인하는가"만 체크하면 됩니다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3265350"/>
        </p:xfrm>
        <a:graphic>
          <a:graphicData uri="http://schemas.openxmlformats.org/drawingml/2006/table">
            <a:tbl>
              <a:tblPr firstRow="0" bandRow="0"/>
              <a:tblGrid>
                <a:gridCol w="1100000"/>
                <a:gridCol w="3300000"/>
                <a:gridCol w="4400000"/>
                <a:gridCol w="2272000"/>
              </a:tblGrid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확인할 것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도구·한글 폰트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"준비 완료!" 출력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GridWorld 클래스 · 미로 그리기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S·G·X 위치가 그림과 같은가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2~3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무작위 에이전트 한 판 · 100판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성공률 2% — 왜 학습이 필요한지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Q-table 만들기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크기 (5,5,4), 전부 0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ε-greedy 행동 선택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1000번 중 → 가 약 850번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6~7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Q-learning 함수 · 1500판 학습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학습 곡선이 오르는가 · 마지막 100판 평균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정책 화살표 · 경로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8걸음 도착 · 함정을 피하는 화살표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보상 설계 4종 비교 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④에서 함정행 — 보상 해킹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직접 해보기 1·2 (함정 위치 · ε)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TODO 줄만 고쳐 실행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7분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85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나의 보상표 설계 · 제출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그림 + 출력 캡처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셀 1~3 — 환경을 만들고, 배우지 않은 에이전트를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env.step(행동) → (새 위치, 보상, 끝났는지). 이 세 값의 흐름을 출력에서 눈으로 따라가세요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138360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00000" y="1490000"/>
            <a:ext cx="471424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셀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1424" y="1470000"/>
            <a:ext cx="456857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무작위 에이전트 한 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60000"/>
            <a:ext cx="5080000" cy="96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s = env.reset()         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시작 칸 (0,0)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while not done: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a = int(rng.integers(4))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아무 행동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s, r, done = env.step(a)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한 걸음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print(env.t, env.arrows[a], s, r, done)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155632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372000" y="1490000"/>
            <a:ext cx="447040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9040" y="1470000"/>
            <a:ext cx="459296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상태 → 행동 → 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2000" y="1760000"/>
            <a:ext cx="5080000" cy="1136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걸음 | 행동 | 새 위치 | 보상 | 끝?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1  | →    | (0, 1)  | +0   | False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2  | ↓    | (1, 1)  | +0   | False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5  | ↓    | (2, 1)  | -10  | True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총 보상 = -10 / 함정: 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37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3760000"/>
            <a:ext cx="50000" cy="299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38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확인 질문: 출력의 각 줄에서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상태·행동·보상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은 어느 열인가요? 100판 성공률(셀 3)은 몇 %인가요? 이 숫자가 오늘 우리가 이길 기준선입니다.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셀 4~7 — 점수표를 만들고, 고르고, 고치고, 1500판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핵심은 셀 6의 갱신 한 줄. 나머지는 그 줄을 반복하기 위한 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172904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00000" y="1490000"/>
            <a:ext cx="597408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셀 4·5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7408" y="1470000"/>
            <a:ext cx="4442592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Q-table · ε-greedy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60000"/>
            <a:ext cx="5080000" cy="1309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Q = np.zeros((5, 5, 4))  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셀 4: 점수표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def choose_action(Q, s, eps, rng):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셀 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if rng.random() &lt; eps:       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탐험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    return int(rng.integers(4))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q = Q[s]                     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활용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return int(rng.choice(np.flatnonzero(q == q.max())))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2000" y="1400000"/>
            <a:ext cx="5400000" cy="138360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372000" y="1490000"/>
            <a:ext cx="471424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셀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3424" y="1470000"/>
            <a:ext cx="456857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Q-learning 한 걸음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2000" y="1760000"/>
            <a:ext cx="5080000" cy="96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a = choose_action(Q, s, eps, rng)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s2, r, done = env.step(a)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target = r if ended else r + gamma * Q[s2].max()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Q[s][a] += alpha * (target - Q[s][a])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★ 갱신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s = s2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375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D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3810000"/>
            <a:ext cx="50000" cy="2990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0000" y="385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셀 7 실행 후: 처음 100판 평균 보상 vs 마지막 100판 평균 보상을 비교하세요. (기본 설정 기준 약 −0.3 → </a:t>
            </a:r>
            <a:r>
              <a:rPr sz="1150" b="1" i="0">
                <a:solidFill>
                  <a:srgbClr val="1F2937"/>
                </a:solidFill>
                <a:latin typeface="맑은 고딕"/>
                <a:ea typeface="맑은 고딕"/>
              </a:rPr>
              <a:t>+4.9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) 오르지 않으면 ε·α 값을 확인.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셀 9 — 보상표 4종 비교 ★ (오늘의 핵심 실험)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알고리즘은 그대로, 보상표만 바꾼다. 표와 화살표 지도를 함께 읽는다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11072000" cy="155632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00000" y="1490000"/>
            <a:ext cx="471424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셀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1424" y="1470000"/>
            <a:ext cx="1024057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보상 설계 실험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60000"/>
            <a:ext cx="10752000" cy="1136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designs = [('① 목표만 +10',    dict(r_goal=10, r_trap=0,   r_step=0)),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       ('② 함정 -10 추가',  dict(r_goal=10, r_trap=-10, r_step=0)),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       ('③ 걸음마다 -0.1',  dict(r_goal=10, r_trap=-10, r_step=-0.1)),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       ('④ 함정 +5 (실수)', dict(r_goal=10, r_trap=5,   r_step=0))]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for name, kw in designs: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   e = GridWorld(**kw); Qd, hd = q_learning(e, episodes=1500, seed=0); p = greedy_path(e, Qd)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3450000"/>
            <a:ext cx="5400000" cy="1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0000" y="345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000" y="362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읽는 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000" y="3970000"/>
            <a:ext cx="5040000" cy="1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①②③ 모두 8걸음 도착 — 하지만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지나는 길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이 다름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4E79"/>
                </a:solidFill>
                <a:latin typeface="맑은 고딕"/>
                <a:ea typeface="맑은 고딕"/>
              </a:rPr>
              <a:t>마지막100판평균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은 보상표가 달라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직접 비교 금지</a:t>
            </a: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 → 비교할 것은 행동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④ 함정행 = </a:t>
            </a:r>
            <a:r>
              <a:rPr sz="1100" b="1" i="0">
                <a:solidFill>
                  <a:srgbClr val="1F2937"/>
                </a:solidFill>
                <a:latin typeface="맑은 고딕"/>
                <a:ea typeface="맑은 고딕"/>
              </a:rPr>
              <a:t>보상 해킹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2000" y="3450000"/>
            <a:ext cx="5400000" cy="1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32000" y="3450000"/>
            <a:ext cx="5400000" cy="7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2000" y="3620000"/>
            <a:ext cx="504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토론 (짝과 2분)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2000" y="3970000"/>
            <a:ext cx="5040000" cy="1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걸음 비용을 −1로 키우면 어떻게 될까?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함정 벌점이 −1이면 ②와 달라질까?</a:t>
            </a:r>
          </a:p>
          <a:p>
            <a:pPr marL="230000" indent="-23000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D97706"/>
              </a:buClr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맑은 고딕"/>
                <a:ea typeface="맑은 고딕"/>
              </a:rPr>
              <a:t>목표 보상을 +1로 줄이면?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65910" cy="25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3 · Colab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📝 오늘의 결과물 — 나의 보상표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세 값을 정하고 이유를 쓴다 → 실행 → 정책 그림과 출력 캡처 제출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5400000" cy="1729040"/>
          </a:xfrm>
          <a:prstGeom prst="roundRect">
            <a:avLst>
              <a:gd name="adj" fmla="val 5000"/>
            </a:avLst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00000" y="1490000"/>
            <a:ext cx="611632" cy="200000"/>
          </a:xfrm>
          <a:prstGeom prst="roundRect">
            <a:avLst>
              <a:gd name="adj" fmla="val 50000"/>
            </a:avLst>
          </a:prstGeom>
          <a:solidFill>
            <a:srgbClr val="0E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</a:rPr>
              <a:t>제출 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1632" y="1470000"/>
            <a:ext cx="4428368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나의 보상표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760000"/>
            <a:ext cx="5080000" cy="1309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이름 = '홍길동'; 학번 = '10101'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나의_보상표 = dict(r_goal=10, r_trap=-10, r_step=-0.1)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설계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설계_이유 = '함정은 크게 벌주고, 오래 헤매면 조금씩 손해…'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e = GridWorld(**나의_보상표)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Qs, hs = q_learning(e, episodes=1500, seed=0)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E5E7EB"/>
                </a:solidFill>
                <a:latin typeface="Consolas"/>
                <a:ea typeface="Consolas"/>
              </a:rPr>
              <a:t>ps = greedy_path(e, Qs)   </a:t>
            </a:r>
            <a:r>
              <a:rPr sz="1000" b="0" i="0">
                <a:solidFill>
                  <a:srgbClr val="86EFAC"/>
                </a:solidFill>
                <a:latin typeface="Consolas"/>
                <a:ea typeface="Consolas"/>
              </a:rPr>
              <a:t># → 그림 + 요약 출력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32000" y="1400000"/>
          <a:ext cx="5400000" cy="1811100"/>
        </p:xfrm>
        <a:graphic>
          <a:graphicData uri="http://schemas.openxmlformats.org/drawingml/2006/table">
            <a:tbl>
              <a:tblPr firstRow="0" bandRow="0"/>
              <a:tblGrid>
                <a:gridCol w="1500000"/>
                <a:gridCol w="1300000"/>
                <a:gridCol w="1300000"/>
                <a:gridCol w="13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항목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보통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미흡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D97706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보상표 설계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의도가 세 값에 모두 반영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일부만 반영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기본값 그대로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 확인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의도대로 나옴 또는 아닌 이유 설명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결과만 제시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실행 안 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4937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용어 사용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상태·행동·보상·정책 바르게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일부 혼동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사용 안 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0000" y="41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0000" y="4160000"/>
            <a:ext cx="50000" cy="299075"/>
          </a:xfrm>
          <a:prstGeom prst="rect">
            <a:avLst/>
          </a:prstGeom>
          <a:solidFill>
            <a:srgbClr val="4F5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0000" y="42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도전: 함정을 최단 경로 위로 옮기고도(직접 해보기 1) 8걸음보다 길더라도 안전하게 도착하는 보상표를 만들어 보세요.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0000" y="1300000"/>
            <a:ext cx="4000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000" y="300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000" y="3350000"/>
            <a:ext cx="90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정리와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000" y="4250000"/>
            <a:ext cx="9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F3F4F6"/>
                </a:solidFill>
                <a:latin typeface="맑은 고딕"/>
                <a:ea typeface="맑은 고딕"/>
              </a:rPr>
              <a:t>오늘 배운 것 세 줄 · 퀴즈 · 다음 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000" y="1500000"/>
            <a:ext cx="3700000" cy="17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00000" y="163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B2A4A"/>
                </a:solidFill>
                <a:latin typeface="맑은 고딕"/>
                <a:ea typeface="맑은 고딕"/>
              </a:rPr>
              <a:t>이 파트에서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2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1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핵심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225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2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퀴즈 3문항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258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3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실습 결과 평가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100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1B2A4A"/>
                </a:solidFill>
                <a:latin typeface="맑은 고딕"/>
                <a:ea typeface="맑은 고딕"/>
              </a:rPr>
              <a:t>4  </a:t>
            </a: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과정 마무리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핵심 정리 — 세 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00000"/>
            <a:ext cx="11072000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0000" y="14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0000" y="15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1. 강화학습은 정답 대신 보상으로 배운다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000" y="1920000"/>
            <a:ext cx="10712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에이전트가 환경에서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행동 → 상태·보상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을 겪으며, 보상의 합을 크게 하는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정책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을 찾는다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2550000"/>
            <a:ext cx="11072000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60000" y="255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0000" y="272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2. Q-learning은 점수표(Q-table)를 한 줄 규칙으로 고쳐 가며 배운다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000" y="3070000"/>
            <a:ext cx="10712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지금 점수 → (보상 + 다음 칸 기대치) 쪽으로 α만큼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 · ε으로 탐험과 활용을 섞는다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00" y="3700000"/>
            <a:ext cx="11072000" cy="1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0000" y="37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000" y="38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3. AI가 무엇을 배우느냐는 알고리즘이 아니라 보상표가 정한다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000" y="4220000"/>
            <a:ext cx="10712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함정 벌점·걸음 비용으로 행동이 바뀌고, 잘못된 보상은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</a:rPr>
              <a:t>보상 해킹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을 부른다 → 설계 후 반드시 행동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4900000"/>
            <a:ext cx="11072000" cy="419075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60000" y="4960000"/>
            <a:ext cx="50000" cy="299075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0000" y="5000000"/>
            <a:ext cx="1073200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알고리즘 선정: 상태·행동이 적으면 표 기반 Q-learning, 상태가 많으면 DQN(신경망), 행동이 연속이면 정책 기반.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— 3문항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짝과 30초 상의 후 손들기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1400000"/>
            <a:ext cx="11072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60000" y="14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000" y="15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Q1. 미로 게임에서 "에이전트의 현재 좌표 (2,3)"은 다음 중 무엇인가?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1920000"/>
            <a:ext cx="10712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행동   ② 상태   ③ 보상   ④ 정책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0000" y="2600000"/>
            <a:ext cx="11072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0000" y="26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000" y="27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Q2. ε-greedy에서 ε = 0.3의 뜻은?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000" y="3120000"/>
            <a:ext cx="10712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30%는 최고 점수 행동, 70%는 무작위   ② 30%는 무작위, 70%는 최고 점수 행동   ③ 학습률이 0.3   ④ 보상의 30%만 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3800000"/>
            <a:ext cx="11072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0000" y="38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000" y="39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Q3. 함정에 +5 보상을 줬더니 AI가 함정으로 직행했다. 이 현상의 이름과 교훈은?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00" y="4320000"/>
            <a:ext cx="10712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① 과적합 — 데이터를 더 모은다   ② 보상 해킹 — 보상표를 의도에 맞게 고친다   ③ 탐험 부족 — ε을 키운다   ④ 할인율 문제 — γ를 줄인다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퀴즈 정답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400000"/>
            <a:ext cx="11072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0000" y="14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0000" y="15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Q1 정답: ②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000" y="1920000"/>
            <a:ext cx="10712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상태 = 지금 상황. 좌표를 바꾸는 선택(↑↓←→)이 행동, 그 결과 받는 점수가 보상, 칸마다 어느 방향을 고를지의 규칙이 정책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2600000"/>
            <a:ext cx="11072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60000" y="26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0000" y="27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Q2 정답: ② 30% 무작위(탐험), 70% 최고 점수 행동(활용)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000" y="3120000"/>
            <a:ext cx="10712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ε은 탐험 확률. 학습률은 α, 할인율은 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00" y="3800000"/>
            <a:ext cx="11072000" cy="1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0000" y="3800000"/>
            <a:ext cx="11072000" cy="7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000" y="3970000"/>
            <a:ext cx="1071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B2A4A"/>
                </a:solidFill>
                <a:latin typeface="맑은 고딕"/>
                <a:ea typeface="맑은 고딕"/>
              </a:rPr>
              <a:t>Q3 정답: ② 보상 해킹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000" y="4320000"/>
            <a:ext cx="10712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</a:rPr>
              <a:t>AI는 의도가 아니라 적힌 점수를 최대화한다. 보상표를 고치고 행동을 다시 확인하는 것이 해결책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0000" y="300000"/>
            <a:ext cx="1554480" cy="2500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PART 4 · 정리와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00000"/>
            <a:ext cx="10172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B2A4A"/>
                </a:solidFill>
                <a:latin typeface="맑은 고딕"/>
                <a:ea typeface="맑은 고딕"/>
              </a:rPr>
              <a:t>실습 결과 평가 · 과정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1040000"/>
            <a:ext cx="1107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제출물: 나의 보상표 + 정책 그림 + 설명 (Colab 출력 캡처)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0000" y="6440000"/>
            <a:ext cx="11072000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000" y="6480000"/>
            <a:ext cx="6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2026 경기도 공유학교 · 인공지능 기초  ·  5회차 · 강화학습 기초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0000" y="1400000"/>
          <a:ext cx="11072000" cy="1900000"/>
        </p:xfrm>
        <a:graphic>
          <a:graphicData uri="http://schemas.openxmlformats.org/drawingml/2006/table">
            <a:tbl>
              <a:tblPr firstRow="0" bandRow="0"/>
              <a:tblGrid>
                <a:gridCol w="2200000"/>
                <a:gridCol w="2900000"/>
                <a:gridCol w="2900000"/>
                <a:gridCol w="307200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보통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미흡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보상 체계 디자인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세 값의 의도가 분명하고 설명과 일치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값은 바꿨으나 이유가 막연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기본값 그대로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 해석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정책 그림을 근거로 의도 달성 여부 설명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결과만 보고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해석 없음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용어·원리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상태·행동·보상·정책·Q-table 바르게 사용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일부 혼동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사용 안 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탐구 태도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직접 해보기 1·2 모두 시도, 비교 기록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하나만 시도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시도 안 함</a:t>
                      </a:r>
                    </a:p>
                  </a:txBody>
                  <a:tcPr marL="70000" marR="70000" marT="30000" marB="3000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0000" y="4050000"/>
            <a:ext cx="11072000" cy="638150"/>
          </a:xfrm>
          <a:prstGeom prst="roundRect">
            <a:avLst>
              <a:gd name="adj" fmla="val 8000"/>
            </a:avLst>
          </a:prstGeom>
          <a:solidFill>
            <a:srgbClr val="E8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0000" y="4110000"/>
            <a:ext cx="50000" cy="5181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000" y="4150000"/>
            <a:ext cx="10732000" cy="438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>
                <a:solidFill>
                  <a:srgbClr val="1F2937"/>
                </a:solidFill>
                <a:latin typeface="맑은 고딕"/>
                <a:ea typeface="맑은 고딕"/>
              </a:rPr>
              <a:t>5회차로 "인공지능 기초" 과정을 마칩니다. 데이터(1) → 지도학습(2·3) → 비지도학습(4) → 강화학습(5): 세 가지 학습 방식의 차이를 한 문장씩 말할 수 있으면 목표 달성입니다. 더 해보기: FrozenLake(선택 셀), 6×6 미로, 벽 추가.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2000" y="6480000"/>
            <a:ext cx="12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B7280"/>
                </a:solidFill>
                <a:latin typeface="맑은 고딕"/>
                <a:ea typeface="맑은 고딕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
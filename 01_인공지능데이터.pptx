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420000" cy="6858000"/>
          </a:xfrm>
          <a:prstGeom prst="rect">
            <a:avLst/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00000" y="1500000"/>
            <a:ext cx="950000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A5B4CB"/>
                </a:solidFill>
                <a:latin typeface="맑은 고딕"/>
                <a:ea typeface="맑은 고딕"/>
              </a:rPr>
              <a:t>2026 경기도 공유학교 · 인공지능 기초  ·  1회차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000" y="2000000"/>
            <a:ext cx="9800000" cy="1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1" i="0">
                <a:solidFill>
                  <a:srgbClr val="FFFFFF"/>
                </a:solidFill>
                <a:latin typeface="맑은 고딕"/>
                <a:ea typeface="맑은 고딕"/>
              </a:rPr>
              <a:t>인공지능 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000" y="3650000"/>
            <a:ext cx="95000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DDE3EE"/>
                </a:solidFill>
                <a:latin typeface="맑은 고딕"/>
                <a:ea typeface="맑은 고딕"/>
              </a:rPr>
              <a:t>"AI는 데이터를 먹고 자란다 — 오늘은 데이터를 읽는 눈을 기른다"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00" y="4500000"/>
            <a:ext cx="9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A5B4CB"/>
                </a:solidFill>
                <a:latin typeface="맑은 고딕"/>
                <a:ea typeface="맑은 고딕"/>
              </a:rPr>
              <a:t>—  성취기준 [인일 02-03] 데이터의 통계적 특성 분석과 시각화로 통찰 얻기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00" y="4830000"/>
            <a:ext cx="9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A5B4CB"/>
                </a:solidFill>
                <a:latin typeface="맑은 고딕"/>
                <a:ea typeface="맑은 고딕"/>
              </a:rPr>
              <a:t>—  오늘의 흐름: 표 → 숫자로 요약 → 그림으로 보기 → Colab 실습 → 통찰 3가지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000" y="5160000"/>
            <a:ext cx="9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A5B4CB"/>
                </a:solidFill>
                <a:latin typeface="맑은 고딕"/>
                <a:ea typeface="맑은 고딕"/>
              </a:rPr>
              <a:t>—  준비물: 구글 계정 · 노트북(또는 크롬북) · 실습 노트북 파일(.ipynb)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628650" cy="25000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INTRO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학습목표와 오늘의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강의 45분 + Colab 실습 60분 + 정리·평가 15분 — 오늘의 결과물은 "내가 찾은 통찰 3가지"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1회차 · 인공지능 데이터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1400000"/>
            <a:ext cx="5400000" cy="26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60000" y="1400000"/>
            <a:ext cx="5400000" cy="7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0000" y="1570000"/>
            <a:ext cx="504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B2A4A"/>
                </a:solidFill>
                <a:latin typeface="맑은 고딕"/>
                <a:ea typeface="맑은 고딕"/>
              </a:rPr>
              <a:t>학습목표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000" y="1920000"/>
            <a:ext cx="5040000" cy="20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표(데이터)의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행·열·변수 유형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을 구분한다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평균·중앙값·표준편차·사분위수로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데이터의 특성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을 설명한다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목적에 맞는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그래프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를 골라 그린다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결측·이상치·편향을 찾고 데이터에서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통찰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을 얻는다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32000" y="1400000"/>
          <a:ext cx="5400000" cy="2077950"/>
        </p:xfrm>
        <a:graphic>
          <a:graphicData uri="http://schemas.openxmlformats.org/drawingml/2006/table">
            <a:tbl>
              <a:tblPr firstRow="0" bandRow="0"/>
              <a:tblGrid>
                <a:gridCol w="900000"/>
                <a:gridCol w="3400000"/>
                <a:gridCol w="1100000"/>
              </a:tblGrid>
              <a:tr h="296850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시간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내용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형태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1B2A4A"/>
                    </a:solidFill>
                  </a:tcPr>
                </a:tc>
              </a:tr>
              <a:tr h="296850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0:00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인사 · 오늘의 목표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강의 5분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6850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0:05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PART 1 데이터란 무엇인가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강의 10분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296850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0:15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PART 2 숫자로 요약하기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강의 15분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6850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0:30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PART 3 그림으로 보기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강의 15분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296850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0:45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PART 4 Colab 실습 (셀 1~16)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실습 60분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6850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1:45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결과 공유 · 퀴즈 · 정리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15분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60000" y="4250000"/>
            <a:ext cx="11072000" cy="82865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0000" y="4310000"/>
            <a:ext cx="50000" cy="70865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0000" y="4350000"/>
            <a:ext cx="10732000" cy="628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>
                <a:solidFill>
                  <a:srgbClr val="1B2A4A"/>
                </a:solidFill>
                <a:latin typeface="맑은 고딕"/>
                <a:ea typeface="맑은 고딕"/>
              </a:rPr>
              <a:t>실습 환경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실습은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Google Colab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(설치 없음, 브라우저만)에서 합니다. 구글 로그인 → colab.research.google.com → 파일 → 노트 업로드 → 선생님이 준 .ipynb 파일. 코드를 몰라도 됩니다 — 오늘은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셀을 순서대로 실행하고 결과를 읽는 것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이 목표입니다.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60000" y="1300000"/>
            <a:ext cx="4000000" cy="1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00" b="1" i="0">
                <a:solidFill>
                  <a:srgbClr val="FFFF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0000" y="3000000"/>
            <a:ext cx="80000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0000" y="3350000"/>
            <a:ext cx="90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>
                <a:solidFill>
                  <a:srgbClr val="FFFFFF"/>
                </a:solidFill>
                <a:latin typeface="맑은 고딕"/>
                <a:ea typeface="맑은 고딕"/>
              </a:rPr>
              <a:t>데이터란 무엇인가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0000" y="4250000"/>
            <a:ext cx="90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F3F4F6"/>
                </a:solidFill>
                <a:latin typeface="맑은 고딕"/>
                <a:ea typeface="맑은 고딕"/>
              </a:rPr>
              <a:t>AI가 배우는 재료 — 표, 행, 열, 그리고 좋은 데이터의 조건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0000" y="1500000"/>
            <a:ext cx="3700000" cy="17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100000" y="1630000"/>
            <a:ext cx="33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4F5BD5"/>
                </a:solidFill>
                <a:latin typeface="맑은 고딕"/>
                <a:ea typeface="맑은 고딕"/>
              </a:rPr>
              <a:t>이 파트에서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0000" y="192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4F5BD5"/>
                </a:solidFill>
                <a:latin typeface="맑은 고딕"/>
                <a:ea typeface="맑은 고딕"/>
              </a:rPr>
              <a:t>1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AI는 왜 데이터가 필요한가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00000" y="225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4F5BD5"/>
                </a:solidFill>
                <a:latin typeface="맑은 고딕"/>
                <a:ea typeface="맑은 고딕"/>
              </a:rPr>
              <a:t>2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표: 행은 사례, 열은 변수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0000" y="258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4F5BD5"/>
                </a:solidFill>
                <a:latin typeface="맑은 고딕"/>
                <a:ea typeface="맑은 고딕"/>
              </a:rPr>
              <a:t>3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수치형 vs 범주형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0000" y="291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4F5BD5"/>
                </a:solidFill>
                <a:latin typeface="맑은 고딕"/>
                <a:ea typeface="맑은 고딕"/>
              </a:rPr>
              <a:t>4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나쁜 데이터: 결측·이상치·편향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897379" cy="250000"/>
          </a:xfrm>
          <a:prstGeom prst="roundRect">
            <a:avLst>
              <a:gd name="adj" fmla="val 50000"/>
            </a:avLst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1 · 데이터란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AI는 데이터를 먹고 자란다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유튜브 추천, 얼굴 인식, 번역기 — 모두 "수많은 사례"를 보고 규칙을 스스로 찾아낸 결과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1회차 · 인공지능 데이터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1400000"/>
            <a:ext cx="5400000" cy="24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60000" y="1400000"/>
            <a:ext cx="5400000" cy="70000"/>
          </a:xfrm>
          <a:prstGeom prst="rect">
            <a:avLst/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0000" y="1570000"/>
            <a:ext cx="504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4F5BD5"/>
                </a:solidFill>
                <a:latin typeface="맑은 고딕"/>
                <a:ea typeface="맑은 고딕"/>
              </a:rPr>
              <a:t>우리 주변의 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000" y="1920000"/>
            <a:ext cx="5040000" cy="18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4F5BD5"/>
              </a:buClr>
              <a:buFont typeface="Arial"/>
              <a:buChar char="•"/>
            </a:pP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유튜브 추천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: 내가 본 영상·시청 시간 → 다음에 볼 영상 예측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4F5BD5"/>
              </a:buClr>
              <a:buFont typeface="Arial"/>
              <a:buChar char="•"/>
            </a:pP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얼굴 잠금해제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: 내 얼굴 사진 수백 장 → 나인지 아닌지 판단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4F5BD5"/>
              </a:buClr>
              <a:buFont typeface="Arial"/>
              <a:buChar char="•"/>
            </a:pP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번역기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: 수억 개의 문장 쌍 → 새 문장을 번역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4F5BD5"/>
              </a:buClr>
              <a:buFont typeface="Arial"/>
              <a:buChar char="•"/>
            </a:pP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급식 인원 예측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: 요일·메뉴·날씨 기록 → 내일 몇 명이 먹을까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2000" y="1400000"/>
            <a:ext cx="5400000" cy="24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232000" y="1400000"/>
            <a:ext cx="5400000" cy="70000"/>
          </a:xfrm>
          <a:prstGeom prst="rect">
            <a:avLst/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12000" y="1570000"/>
            <a:ext cx="504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4F5BD5"/>
                </a:solidFill>
                <a:latin typeface="맑은 고딕"/>
                <a:ea typeface="맑은 고딕"/>
              </a:rPr>
              <a:t>그래서 오늘 배울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2000" y="1920000"/>
            <a:ext cx="5040000" cy="18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4F5BD5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데이터는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표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로 정리된다 (행 = 사례, 열 = 변수)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4F5BD5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표가 크면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숫자 몇 개로 요약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해야 보인다 (평균·중앙값·표준편차)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4F5BD5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요약만으로 놓치는 것은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그림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으로 본다 (히스토그램·산점도…)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4F5BD5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그 과정에서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통찰(insight)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을 얻는다 → AI 모델의 출발점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0000" y="4000000"/>
            <a:ext cx="11072000" cy="619100"/>
          </a:xfrm>
          <a:prstGeom prst="roundRect">
            <a:avLst>
              <a:gd name="adj" fmla="val 8000"/>
            </a:avLst>
          </a:prstGeom>
          <a:solidFill>
            <a:srgbClr val="EC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0000" y="4060000"/>
            <a:ext cx="50000" cy="499100"/>
          </a:xfrm>
          <a:prstGeom prst="rect">
            <a:avLst/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60000" y="4100000"/>
            <a:ext cx="10732000" cy="4191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>
                <a:solidFill>
                  <a:srgbClr val="4F5BD5"/>
                </a:solidFill>
                <a:latin typeface="맑은 고딕"/>
                <a:ea typeface="맑은 고딕"/>
              </a:rPr>
              <a:t>핵심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쓰레기가 들어가면 쓰레기가 나온다(Garbage in, garbage out). AI의 성능은 알고리즘보다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데이터의 질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에서 먼저 갈린다. 데이터를 읽을 줄 아는 사람이 AI를 제대로 쓴다.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897379" cy="250000"/>
          </a:xfrm>
          <a:prstGeom prst="roundRect">
            <a:avLst>
              <a:gd name="adj" fmla="val 50000"/>
            </a:avLst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1 · 데이터란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표: 한 행은 학생 한 명, 한 열은 물어본 항목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오늘 실습 데이터 — 가상의 고등학생 200명 생활 설문 (앞 6명)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1회차 · 인공지능 데이터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0000" y="1400000"/>
          <a:ext cx="9200000" cy="2310000"/>
        </p:xfrm>
        <a:graphic>
          <a:graphicData uri="http://schemas.openxmlformats.org/drawingml/2006/table">
            <a:tbl>
              <a:tblPr firstRow="0" bandRow="0"/>
              <a:tblGrid>
                <a:gridCol w="800000"/>
                <a:gridCol w="800000"/>
                <a:gridCol w="800000"/>
                <a:gridCol w="1200000"/>
                <a:gridCol w="1200000"/>
                <a:gridCol w="1200000"/>
                <a:gridCol w="1000000"/>
                <a:gridCol w="1200000"/>
                <a:gridCol w="1000000"/>
              </a:tblGrid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학생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4F5B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학년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4F5B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성별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4F5B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수면시간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4F5B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공부시간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4F5B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스마트폰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4F5B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운동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4F5B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아침식사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4F5B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성적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4F5BD5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여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5.7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2.7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1.5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3.4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안먹음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62.6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남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6.7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3.0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2.1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1.8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먹음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72.3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여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4.6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2.5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3.7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3.1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안먹음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57.9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남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7.9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2.7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4.3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0.0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안먹음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79.5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남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7.1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2.8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5.6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1.6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먹음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64.3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여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6.2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3.6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4.0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2.4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먹음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72.6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0000" y="4000000"/>
            <a:ext cx="54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00" b="1" i="0">
                <a:solidFill>
                  <a:srgbClr val="4F5BD5"/>
                </a:solidFill>
                <a:latin typeface="맑은 고딕"/>
                <a:ea typeface="맑은 고딕"/>
              </a:rPr>
              <a:t>행(row)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가로 한 줄 =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사례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하나(학생 한 명). 200행 = 200명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00" b="1" i="0">
                <a:solidFill>
                  <a:srgbClr val="4F5BD5"/>
                </a:solidFill>
                <a:latin typeface="맑은 고딕"/>
                <a:ea typeface="맑은 고딕"/>
              </a:rPr>
              <a:t>열(column)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세로 한 줄 =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변수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(특징) 하나. 수면시간, 성적 …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00" b="1" i="0">
                <a:solidFill>
                  <a:srgbClr val="4F5BD5"/>
                </a:solidFill>
                <a:latin typeface="맑은 고딕"/>
                <a:ea typeface="맑은 고딕"/>
              </a:rPr>
              <a:t>셀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행과 열이 만나는 칸 = 값 하나. 비어 있으면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결측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2000" y="4000000"/>
            <a:ext cx="5400000" cy="61910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232000" y="4060000"/>
            <a:ext cx="50000" cy="4991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32000" y="4100000"/>
            <a:ext cx="5060000" cy="4191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pandas의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DataFrame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이 바로 이 표입니다. </a:t>
            </a:r>
            <a:r>
              <a:rPr sz="1100" b="0" i="0">
                <a:solidFill>
                  <a:srgbClr val="1F4E79"/>
                </a:solidFill>
                <a:latin typeface="맑은 고딕"/>
                <a:ea typeface="맑은 고딕"/>
              </a:rPr>
              <a:t>df.shape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→ (200, 8) = 200행 8열. </a:t>
            </a:r>
            <a:r>
              <a:rPr sz="1100" b="0" i="0">
                <a:solidFill>
                  <a:srgbClr val="1F4E79"/>
                </a:solidFill>
                <a:latin typeface="맑은 고딕"/>
                <a:ea typeface="맑은 고딕"/>
              </a:rPr>
              <a:t>df.head()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→ 앞 5행 보기.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897379" cy="250000"/>
          </a:xfrm>
          <a:prstGeom prst="roundRect">
            <a:avLst>
              <a:gd name="adj" fmla="val 50000"/>
            </a:avLst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1 · 데이터란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변수에는 두 종류가 있다 — 수치형과 범주형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종류가 다르면 요약하는 방법도, 그리는 그래프도 다르다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1회차 · 인공지능 데이터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0000" y="1400000"/>
          <a:ext cx="11072000" cy="1260000"/>
        </p:xfrm>
        <a:graphic>
          <a:graphicData uri="http://schemas.openxmlformats.org/drawingml/2006/table">
            <a:tbl>
              <a:tblPr firstRow="0" bandRow="0"/>
              <a:tblGrid>
                <a:gridCol w="1700000"/>
                <a:gridCol w="3900000"/>
                <a:gridCol w="2700000"/>
                <a:gridCol w="2772000"/>
              </a:tblGrid>
              <a:tr h="4200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종류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4F5B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뜻 · 예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4F5B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요약 방법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4F5B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어울리는 그래프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4F5BD5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수치형 (숫자)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크기·양을 나타냄 — 수면시간 6.5, 성적 78, 키 172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평균 · 중앙값 · 표준편차 · 최소/최대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히스토그램 · 상자그림 · 산점도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범주형 (글자·구분)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종류·그룹을 나타냄 — 성별, 아침식사(먹음/안먹음), 학년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개수 세기 · 비율(%)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막대그래프 · 원그래프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0000" y="3200000"/>
            <a:ext cx="11072000" cy="828650"/>
          </a:xfrm>
          <a:prstGeom prst="roundRect">
            <a:avLst>
              <a:gd name="adj" fmla="val 8000"/>
            </a:avLst>
          </a:prstGeom>
          <a:solidFill>
            <a:srgbClr val="FE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0000" y="3260000"/>
            <a:ext cx="50000" cy="70865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60000" y="3300000"/>
            <a:ext cx="10732000" cy="628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>
                <a:solidFill>
                  <a:srgbClr val="D97706"/>
                </a:solidFill>
                <a:latin typeface="맑은 고딕"/>
                <a:ea typeface="맑은 고딕"/>
              </a:rPr>
              <a:t>함정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"학년"은 숫자 1, 2, 3으로 적혀 있지만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평균 2.05학년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은 의미가 없죠? 숫자로 적혔어도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그룹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을 뜻하면 범주형으로 다룹니다. pandas </a:t>
            </a:r>
            <a:r>
              <a:rPr sz="1100" b="0" i="0">
                <a:solidFill>
                  <a:srgbClr val="1F4E79"/>
                </a:solidFill>
                <a:latin typeface="맑은 고딕"/>
                <a:ea typeface="맑은 고딕"/>
              </a:rPr>
              <a:t>info()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의 Dtype: </a:t>
            </a:r>
            <a:r>
              <a:rPr sz="1100" b="0" i="0">
                <a:solidFill>
                  <a:srgbClr val="1F4E79"/>
                </a:solidFill>
                <a:latin typeface="맑은 고딕"/>
                <a:ea typeface="맑은 고딕"/>
              </a:rPr>
              <a:t>float64/int64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= 숫자, </a:t>
            </a:r>
            <a:r>
              <a:rPr sz="1100" b="0" i="0">
                <a:solidFill>
                  <a:srgbClr val="1F4E79"/>
                </a:solidFill>
                <a:latin typeface="맑은 고딕"/>
                <a:ea typeface="맑은 고딕"/>
              </a:rPr>
              <a:t>object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= 글자.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0000" y="4400000"/>
            <a:ext cx="11072000" cy="619100"/>
          </a:xfrm>
          <a:prstGeom prst="roundRect">
            <a:avLst>
              <a:gd name="adj" fmla="val 8000"/>
            </a:avLst>
          </a:prstGeom>
          <a:solidFill>
            <a:srgbClr val="EC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0000" y="4460000"/>
            <a:ext cx="50000" cy="499100"/>
          </a:xfrm>
          <a:prstGeom prst="rect">
            <a:avLst/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60000" y="4500000"/>
            <a:ext cx="10732000" cy="4191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>
                <a:solidFill>
                  <a:srgbClr val="4F5BD5"/>
                </a:solidFill>
                <a:latin typeface="맑은 고딕"/>
                <a:ea typeface="맑은 고딕"/>
              </a:rPr>
              <a:t>같이 생각해 보기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질문: "좋아하는 급식 메뉴", "하루 스마트폰 사용시간", "통학 방법", "몸무게" — 각각 수치형일까 범주형일까?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897379" cy="250000"/>
          </a:xfrm>
          <a:prstGeom prst="roundRect">
            <a:avLst>
              <a:gd name="adj" fmla="val 50000"/>
            </a:avLst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1 · 데이터란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나쁜 데이터 3종 — 결측 · 이상치 · 편향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빈칸(결측) · 말도 안 되는 값(이상치) · 치우친 표본(편향) — 분석 전에 반드시 검사, 실습 데이터에도 일부러 심어 두었다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1회차 · 인공지능 데이터</a:t>
            </a:r>
          </a:p>
        </p:txBody>
      </p:sp>
      <p:pic>
        <p:nvPicPr>
          <p:cNvPr id="8" name="Picture 7" descr="mis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00" y="1400000"/>
            <a:ext cx="3500000" cy="1826087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60000" y="3266087"/>
            <a:ext cx="350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결측: 열마다 빈칸 개수 세기 (df.isna().sum())</a:t>
            </a:r>
          </a:p>
        </p:txBody>
      </p:sp>
      <p:pic>
        <p:nvPicPr>
          <p:cNvPr id="10" name="Picture 9" descr="bi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0000" y="1400000"/>
            <a:ext cx="3500000" cy="1826087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4260000" y="3266087"/>
            <a:ext cx="350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편향: 답한 사람만 보면 전체를 착각한다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60000" y="1400000"/>
            <a:ext cx="3672000" cy="30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7960000" y="1400000"/>
            <a:ext cx="3672000" cy="70000"/>
          </a:xfrm>
          <a:prstGeom prst="rect">
            <a:avLst/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140000" y="1570000"/>
            <a:ext cx="331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4F5BD5"/>
                </a:solidFill>
                <a:latin typeface="맑은 고딕"/>
                <a:ea typeface="맑은 고딕"/>
              </a:rPr>
              <a:t>어떻게 할까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40000" y="1920000"/>
            <a:ext cx="3312000" cy="2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4F5BD5"/>
              </a:buClr>
              <a:buFont typeface="Arial"/>
              <a:buChar char="•"/>
            </a:pPr>
            <a:r>
              <a:rPr sz="1050" b="1" i="0">
                <a:solidFill>
                  <a:srgbClr val="1F2937"/>
                </a:solidFill>
                <a:latin typeface="맑은 고딕"/>
                <a:ea typeface="맑은 고딕"/>
              </a:rPr>
              <a:t>결측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: 빼거나(dropna) 대표값으로 채우기(fillna)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4F5BD5"/>
              </a:buClr>
              <a:buFont typeface="Arial"/>
              <a:buChar char="•"/>
            </a:pPr>
            <a:r>
              <a:rPr sz="1050" b="1" i="0">
                <a:solidFill>
                  <a:srgbClr val="1F2937"/>
                </a:solidFill>
                <a:latin typeface="맑은 고딕"/>
                <a:ea typeface="맑은 고딕"/>
              </a:rPr>
              <a:t>이상치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: 입력 실수면 제거, 진짜면 남기고 따로 보기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4F5BD5"/>
              </a:buClr>
              <a:buFont typeface="Arial"/>
              <a:buChar char="•"/>
            </a:pPr>
            <a:r>
              <a:rPr sz="1050" b="1" i="0">
                <a:solidFill>
                  <a:srgbClr val="1F2937"/>
                </a:solidFill>
                <a:latin typeface="맑은 고딕"/>
                <a:ea typeface="맑은 고딕"/>
              </a:rPr>
              <a:t>편향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: 고칠 수 없다 — "이 데이터가 누구를 대표하나"를 먼저 묻기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0000" y="4650000"/>
            <a:ext cx="11072000" cy="409550"/>
          </a:xfrm>
          <a:prstGeom prst="roundRect">
            <a:avLst>
              <a:gd name="adj" fmla="val 8000"/>
            </a:avLst>
          </a:prstGeom>
          <a:solidFill>
            <a:srgbClr val="EC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0000" y="4710000"/>
            <a:ext cx="50000" cy="289550"/>
          </a:xfrm>
          <a:prstGeom prst="rect">
            <a:avLst/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60000" y="4750000"/>
            <a:ext cx="10732000" cy="2095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실습 데이터의 이상치: 하루 스마트폰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24.0시간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, 하루 공부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15.0시간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— 여러분이 셀 6에서 찾아냅니다.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60000" y="1300000"/>
            <a:ext cx="4000000" cy="1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00" b="1" i="0">
                <a:solidFill>
                  <a:srgbClr val="FFFF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0000" y="3000000"/>
            <a:ext cx="80000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0000" y="3350000"/>
            <a:ext cx="90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>
                <a:solidFill>
                  <a:srgbClr val="FFFFFF"/>
                </a:solidFill>
                <a:latin typeface="맑은 고딕"/>
                <a:ea typeface="맑은 고딕"/>
              </a:rPr>
              <a:t>숫자로 요약하기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0000" y="4250000"/>
            <a:ext cx="90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F3F4F6"/>
                </a:solidFill>
                <a:latin typeface="맑은 고딕"/>
                <a:ea typeface="맑은 고딕"/>
              </a:rPr>
              <a:t>200명을 다 볼 수는 없다 — 대표값과 퍼짐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0000" y="1500000"/>
            <a:ext cx="3700000" cy="17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100000" y="1630000"/>
            <a:ext cx="33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0E8C86"/>
                </a:solidFill>
                <a:latin typeface="맑은 고딕"/>
                <a:ea typeface="맑은 고딕"/>
              </a:rPr>
              <a:t>이 파트에서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0000" y="192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0E8C86"/>
                </a:solidFill>
                <a:latin typeface="맑은 고딕"/>
                <a:ea typeface="맑은 고딕"/>
              </a:rPr>
              <a:t>1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평균 vs 중앙값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00000" y="225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0E8C86"/>
                </a:solidFill>
                <a:latin typeface="맑은 고딕"/>
                <a:ea typeface="맑은 고딕"/>
              </a:rPr>
              <a:t>2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표준편차: 퍼진 정도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0000" y="258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0E8C86"/>
                </a:solidFill>
                <a:latin typeface="맑은 고딕"/>
                <a:ea typeface="맑은 고딕"/>
              </a:rPr>
              <a:t>3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사분위수와 상자그림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0000" y="291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0E8C86"/>
                </a:solidFill>
                <a:latin typeface="맑은 고딕"/>
                <a:ea typeface="맑은 고딕"/>
              </a:rPr>
              <a:t>4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describe() 한 번에 읽기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783080" cy="250000"/>
          </a:xfrm>
          <a:prstGeom prst="roundRect">
            <a:avLst>
              <a:gd name="adj" fmla="val 50000"/>
            </a:avLst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2 · 숫자로 요약하기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평균만 보면 속는다 — 이상치 한 명이 평균을 끌고 간다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대표값 두 가지: 평균(mean)과 중앙값(median)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1회차 · 인공지능 데이터</a:t>
            </a:r>
          </a:p>
        </p:txBody>
      </p:sp>
      <p:pic>
        <p:nvPicPr>
          <p:cNvPr id="8" name="Picture 7" descr="mean_med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00" y="1400000"/>
            <a:ext cx="5400000" cy="2826598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60000" y="4266598"/>
            <a:ext cx="540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용돈 9명: 8명은 3~7만원, 1명이 60만원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2000" y="1400000"/>
            <a:ext cx="5400000" cy="2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232000" y="1400000"/>
            <a:ext cx="5400000" cy="7000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12000" y="1570000"/>
            <a:ext cx="504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0E8C86"/>
                </a:solidFill>
                <a:latin typeface="맑은 고딕"/>
                <a:ea typeface="맑은 고딕"/>
              </a:rPr>
              <a:t>두 대표값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2000" y="1920000"/>
            <a:ext cx="5040000" cy="1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평균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= 다 더해서 개수로 나눔 → 60만원 한 명 때문에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11.1만원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중앙값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= 크기순으로 세워 한가운데 →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5만원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"우리 반 평균 용돈 11만원"은 사실이지만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대부분의 학생과 다르다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이상치가 있거나 한쪽으로 치우친 데이터 →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중앙값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이 더 정직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2000" y="3850000"/>
            <a:ext cx="5400000" cy="109564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232000" y="3850000"/>
            <a:ext cx="50000" cy="109564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32000" y="3950000"/>
            <a:ext cx="510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0E8C86"/>
                </a:solidFill>
                <a:latin typeface="맑은 고딕"/>
                <a:ea typeface="맑은 고딕"/>
              </a:rPr>
              <a:t>말로 풀면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2000" y="4170000"/>
            <a:ext cx="5100000" cy="895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0" i="0">
                <a:solidFill>
                  <a:srgbClr val="1F2937"/>
                </a:solidFill>
                <a:latin typeface="Cambria Math"/>
                <a:ea typeface="맑은 고딕"/>
              </a:rPr>
              <a:t>평균 = (값의 합) ÷ (개수)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0" i="0">
                <a:solidFill>
                  <a:srgbClr val="1F2937"/>
                </a:solidFill>
                <a:latin typeface="Cambria Math"/>
                <a:ea typeface="맑은 고딕"/>
              </a:rPr>
              <a:t>중앙값 = 크기순 정렬 후 가운데 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0000" y="4750000"/>
            <a:ext cx="5400000" cy="600050"/>
          </a:xfrm>
          <a:prstGeom prst="roundRect">
            <a:avLst>
              <a:gd name="adj" fmla="val 8000"/>
            </a:avLst>
          </a:prstGeom>
          <a:solidFill>
            <a:srgbClr val="E3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0000" y="4810000"/>
            <a:ext cx="50000" cy="48005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0000" y="4850000"/>
            <a:ext cx="5060000" cy="400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실습 셀 7: 이상치를 지우기 전후로 스마트폰시간 </a:t>
            </a:r>
            <a:r>
              <a:rPr sz="1050" b="1" i="0">
                <a:solidFill>
                  <a:srgbClr val="1F2937"/>
                </a:solidFill>
                <a:latin typeface="맑은 고딕"/>
                <a:ea typeface="맑은 고딕"/>
              </a:rPr>
              <a:t>평균은 3.64→3.53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, </a:t>
            </a:r>
            <a:r>
              <a:rPr sz="1050" b="1" i="0">
                <a:solidFill>
                  <a:srgbClr val="1F2937"/>
                </a:solidFill>
                <a:latin typeface="맑은 고딕"/>
                <a:ea typeface="맑은 고딕"/>
              </a:rPr>
              <a:t>중앙값은 3.60→3.60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. 중앙값은 버틴다.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783080" cy="250000"/>
          </a:xfrm>
          <a:prstGeom prst="roundRect">
            <a:avLst>
              <a:gd name="adj" fmla="val 50000"/>
            </a:avLst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2 · 숫자로 요약하기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표준편차: 평균이 같아도 "퍼진 정도"는 다르다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두 반 모두 평균 70점 — 어느 반이 더 고른가?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1회차 · 인공지능 데이터</a:t>
            </a:r>
          </a:p>
        </p:txBody>
      </p:sp>
      <p:pic>
        <p:nvPicPr>
          <p:cNvPr id="8" name="Picture 7" descr="s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00" y="1400000"/>
            <a:ext cx="5400000" cy="2824191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60000" y="4264191"/>
            <a:ext cx="540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표준편차 5 vs 12 — 같은 평균, 다른 모양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2000" y="1400000"/>
            <a:ext cx="5400000" cy="26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232000" y="1400000"/>
            <a:ext cx="5400000" cy="7000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12000" y="1570000"/>
            <a:ext cx="504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0E8C86"/>
                </a:solidFill>
                <a:latin typeface="맑은 고딕"/>
                <a:ea typeface="맑은 고딕"/>
              </a:rPr>
              <a:t>표준편차(standard deviation, std)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2000" y="1920000"/>
            <a:ext cx="5040000" cy="2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각 값이 평균에서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얼마나 떨어져 있는지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의 평균적인 크기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작다 → 값들이 평균 근처에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몰려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있다 (고르다)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크다 → 값들이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넓게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퍼져 있다 (편차가 크다)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단위는 원래 값과 같다: 성적의 std 12 = "대략 ±12점 정도 퍼짐"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실습 데이터 성적: 평균 60.9,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표준편차 11.8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0000" y="4600000"/>
            <a:ext cx="11072000" cy="409550"/>
          </a:xfrm>
          <a:prstGeom prst="roundRect">
            <a:avLst>
              <a:gd name="adj" fmla="val 8000"/>
            </a:avLst>
          </a:prstGeom>
          <a:solidFill>
            <a:srgbClr val="E3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60000" y="4660000"/>
            <a:ext cx="50000" cy="28955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60000" y="4700000"/>
            <a:ext cx="10732000" cy="2095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평균 70·표준편차 5인 반에서 85점은 "매우 잘한 것"(평균+3σ), 표준편차 12인 반에서 85점은 "잘한 편"(평균+1.25σ).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같은 점수도 퍼짐에 따라 의미가 달라진다.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783080" cy="250000"/>
          </a:xfrm>
          <a:prstGeom prst="roundRect">
            <a:avLst>
              <a:gd name="adj" fmla="val 50000"/>
            </a:avLst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2 · 숫자로 요약하기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사분위수와 상자그림 — 다섯 숫자로 분포를 그린다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최소 · Q1(25%) · 중앙값(50%) · Q3(75%) · 최대 + 상자 밖의 점 = 이상치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1회차 · 인공지능 데이터</a:t>
            </a:r>
          </a:p>
        </p:txBody>
      </p:sp>
      <p:pic>
        <p:nvPicPr>
          <p:cNvPr id="8" name="Picture 7" descr="box_outl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00" y="1400000"/>
            <a:ext cx="5400000" cy="3185678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60000" y="4625678"/>
            <a:ext cx="540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실습 데이터의 상자그림 — ○가 이상치(24시간, 15시간)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2000" y="1400000"/>
            <a:ext cx="5400000" cy="24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232000" y="1400000"/>
            <a:ext cx="5400000" cy="7000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12000" y="1570000"/>
            <a:ext cx="504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0E8C86"/>
                </a:solidFill>
                <a:latin typeface="맑은 고딕"/>
                <a:ea typeface="맑은 고딕"/>
              </a:rPr>
              <a:t>읽는 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2000" y="1920000"/>
            <a:ext cx="5040000" cy="18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상자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= Q1 ~ Q3, 가운데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50%의 학생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이 이 안에 있다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상자 속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선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= 중앙값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수염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= 정상 범위의 끝 (Q1−1.5×IQR ~ Q3+1.5×IQR)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○ 점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= 수염 밖 → 이상치 후보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IQR = Q3 − Q1 = 상자의 높이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2000" y="4000000"/>
            <a:ext cx="5400000" cy="600050"/>
          </a:xfrm>
          <a:prstGeom prst="roundRect">
            <a:avLst>
              <a:gd name="adj" fmla="val 8000"/>
            </a:avLst>
          </a:prstGeom>
          <a:solidFill>
            <a:srgbClr val="E3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232000" y="4060000"/>
            <a:ext cx="50000" cy="48005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32000" y="4100000"/>
            <a:ext cx="5060000" cy="400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상자그림 하나에 대표값·퍼짐·이상치가 다 들어 있다. 여러 변수·여러 그룹을 </a:t>
            </a:r>
            <a:r>
              <a:rPr sz="1050" b="1" i="0">
                <a:solidFill>
                  <a:srgbClr val="1F2937"/>
                </a:solidFill>
                <a:latin typeface="맑은 고딕"/>
                <a:ea typeface="맑은 고딕"/>
              </a:rPr>
              <a:t>나란히 비교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할 때 최고.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783080" cy="250000"/>
          </a:xfrm>
          <a:prstGeom prst="roundRect">
            <a:avLst>
              <a:gd name="adj" fmla="val 50000"/>
            </a:avLst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2 · 숫자로 요약하기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describe() 한 줄로 전부 — 표를 읽는 연습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실습 셀 4의 출력 (정리 전 원본 200명)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1회차 · 인공지능 데이터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0000" y="1400000"/>
          <a:ext cx="8100000" cy="2760228"/>
        </p:xfrm>
        <a:graphic>
          <a:graphicData uri="http://schemas.openxmlformats.org/drawingml/2006/table">
            <a:tbl>
              <a:tblPr firstRow="0" bandRow="0"/>
              <a:tblGrid>
                <a:gridCol w="1000000"/>
                <a:gridCol w="1000000"/>
                <a:gridCol w="1200000"/>
                <a:gridCol w="1200000"/>
                <a:gridCol w="1300000"/>
                <a:gridCol w="1200000"/>
                <a:gridCol w="1200000"/>
              </a:tblGrid>
              <a:tr h="306692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0E8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학년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0E8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수면시간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0E8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공부시간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0E8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스마트폰시간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0E8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운동시간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0E8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성적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0E8C86"/>
                    </a:solidFill>
                  </a:tcPr>
                </a:tc>
              </a:tr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count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200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194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200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200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196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200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mean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2.05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6.57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2.59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3.64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2.11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60.85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std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0.83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1.09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1.46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2.00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1.31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11.80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min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3.50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0.00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0.30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0.00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24.20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25%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5.80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1.80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2.50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1.18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52.80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50%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2.00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6.60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2.55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3.60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2.00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61.25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75%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3.00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7.30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3.30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4.50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3.00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68.72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max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3.00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9.50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15.00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24.00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5.50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92.20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860000" y="1400000"/>
            <a:ext cx="2772000" cy="27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8860000" y="1400000"/>
            <a:ext cx="2772000" cy="7000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40000" y="1570000"/>
            <a:ext cx="241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0E8C86"/>
                </a:solidFill>
                <a:latin typeface="맑은 고딕"/>
                <a:ea typeface="맑은 고딕"/>
              </a:rPr>
              <a:t>여기서 읽어낼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40000" y="1920000"/>
            <a:ext cx="241200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count가 200이 아닌 열 → </a:t>
            </a:r>
            <a:r>
              <a:rPr sz="1050" b="1" i="0">
                <a:solidFill>
                  <a:srgbClr val="1F2937"/>
                </a:solidFill>
                <a:latin typeface="맑은 고딕"/>
                <a:ea typeface="맑은 고딕"/>
              </a:rPr>
              <a:t>결측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 (수면 194, 운동 196)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max가 이상한 열 → </a:t>
            </a:r>
            <a:r>
              <a:rPr sz="1050" b="1" i="0">
                <a:solidFill>
                  <a:srgbClr val="1F2937"/>
                </a:solidFill>
                <a:latin typeface="맑은 고딕"/>
                <a:ea typeface="맑은 고딕"/>
              </a:rPr>
              <a:t>이상치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 (스마트폰 24, 공부 15)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평균≈중앙값(50%) → 대체로 대칭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학년의 평균 2.05 → </a:t>
            </a:r>
            <a:r>
              <a:rPr sz="1050" b="1" i="0">
                <a:solidFill>
                  <a:srgbClr val="1F2937"/>
                </a:solidFill>
                <a:latin typeface="맑은 고딕"/>
                <a:ea typeface="맑은 고딕"/>
              </a:rPr>
              <a:t>의미 없음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(범주형)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0000" y="4250000"/>
            <a:ext cx="11072000" cy="40955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0000" y="4310000"/>
            <a:ext cx="50000" cy="28955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0000" y="4350000"/>
            <a:ext cx="10732000" cy="2095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숫자 요약은 빠르지만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모양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은 안 보인다. 봉우리가 둘인지, 꼬리가 긴지는 그림으로 확인해야 한다 → PART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60000" y="1300000"/>
            <a:ext cx="4000000" cy="1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00" b="1" i="0">
                <a:solidFill>
                  <a:srgbClr val="FFFF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0000" y="3000000"/>
            <a:ext cx="80000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0000" y="3350000"/>
            <a:ext cx="90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>
                <a:solidFill>
                  <a:srgbClr val="FFFFFF"/>
                </a:solidFill>
                <a:latin typeface="맑은 고딕"/>
                <a:ea typeface="맑은 고딕"/>
              </a:rPr>
              <a:t>그림으로 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0000" y="4250000"/>
            <a:ext cx="90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F3F4F6"/>
                </a:solidFill>
                <a:latin typeface="맑은 고딕"/>
                <a:ea typeface="맑은 고딕"/>
              </a:rPr>
              <a:t>목적에 맞는 그래프 고르기 — 분포 · 관계 · 비교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0000" y="1500000"/>
            <a:ext cx="3700000" cy="17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100000" y="1630000"/>
            <a:ext cx="33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D97706"/>
                </a:solidFill>
                <a:latin typeface="맑은 고딕"/>
                <a:ea typeface="맑은 고딕"/>
              </a:rPr>
              <a:t>이 파트에서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0000" y="192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D97706"/>
                </a:solidFill>
                <a:latin typeface="맑은 고딕"/>
                <a:ea typeface="맑은 고딕"/>
              </a:rPr>
              <a:t>1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어떤 그래프를 고를까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00000" y="225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D97706"/>
                </a:solidFill>
                <a:latin typeface="맑은 고딕"/>
                <a:ea typeface="맑은 고딕"/>
              </a:rPr>
              <a:t>2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히스토그램과 상자그림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0000" y="258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D97706"/>
                </a:solidFill>
                <a:latin typeface="맑은 고딕"/>
                <a:ea typeface="맑은 고딕"/>
              </a:rPr>
              <a:t>3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산점도와 상관계수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0000" y="291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D97706"/>
                </a:solidFill>
                <a:latin typeface="맑은 고딕"/>
                <a:ea typeface="맑은 고딕"/>
              </a:rPr>
              <a:t>4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막대그래프와 히트맵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668780" cy="2500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3 · 그림으로 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질문이 그래프를 정한다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"무엇을 알고 싶은가"를 먼저 정하면 그래프는 자동으로 정해진다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1회차 · 인공지능 데이터</a:t>
            </a:r>
          </a:p>
        </p:txBody>
      </p:sp>
      <p:pic>
        <p:nvPicPr>
          <p:cNvPr id="8" name="Picture 7" descr="chart_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00" y="1400000"/>
            <a:ext cx="11072000" cy="2495529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60000" y="3935529"/>
            <a:ext cx="11072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왼쪽부터: 히스토그램 · 상자그림 · 산점도 · 막대그래프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0000" y="4300000"/>
          <a:ext cx="11072000" cy="1484250"/>
        </p:xfrm>
        <a:graphic>
          <a:graphicData uri="http://schemas.openxmlformats.org/drawingml/2006/table">
            <a:tbl>
              <a:tblPr firstRow="0" bandRow="0"/>
              <a:tblGrid>
                <a:gridCol w="3000000"/>
                <a:gridCol w="2600000"/>
                <a:gridCol w="2700000"/>
                <a:gridCol w="2772000"/>
              </a:tblGrid>
              <a:tr h="296850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알고 싶은 것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변수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그래프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pandas / matplotlib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D97706"/>
                    </a:solidFill>
                  </a:tcPr>
                </a:tc>
              </a:tr>
              <a:tr h="29685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한 변수가 어떻게 퍼져 있나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수치형 1개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히스토그램 · 상자그림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plt.hist / plt.boxplot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685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두 변수가 관계가 있나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수치형 2개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산점도 (+상관계수)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plt.scatter / df.corr()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29685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그룹끼리 크기 비교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범주형 + 수치형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막대그래프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groupby().mean().plot(kind="bar")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685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변수 여러 개의 관계를 한 번에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수치형 여러 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상관계수 히트맵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sns.heatmap(df.corr())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668780" cy="2500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3 · 그림으로 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히스토그램 — 봉우리, 꼬리, 평균과 중앙값의 거리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값의 범위를 칸(bin)으로 나누고 각 칸의 개수를 막대로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1회차 · 인공지능 데이터</a:t>
            </a:r>
          </a:p>
        </p:txBody>
      </p:sp>
      <p:pic>
        <p:nvPicPr>
          <p:cNvPr id="8" name="Picture 7" descr="hist_s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00" y="1400000"/>
            <a:ext cx="5400000" cy="3185678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60000" y="4625678"/>
            <a:ext cx="540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실습 데이터 성적 분포 (bins=15)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2000" y="1400000"/>
            <a:ext cx="5400000" cy="26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232000" y="1400000"/>
            <a:ext cx="5400000" cy="7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12000" y="1570000"/>
            <a:ext cx="504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D97706"/>
                </a:solidFill>
                <a:latin typeface="맑은 고딕"/>
                <a:ea typeface="맑은 고딕"/>
              </a:rPr>
              <a:t>볼 것 3가지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2000" y="1920000"/>
            <a:ext cx="5040000" cy="2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봉우리 개수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: 하나면 한 무리, 둘이면 두 집단이 섞였을 수도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꼬리 방향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: 오른쪽 꼬리가 길면 평균 &gt; 중앙값 (소득·용돈처럼)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빨강(평균)과 초록(중앙값) 선의 거리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: 멀수록 치우침·이상치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bins를 10 → 30으로 바꿔 보기: 너무 적으면 뭉개지고 많으면 들쭉날쭉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0000" y="4700000"/>
            <a:ext cx="11072000" cy="409550"/>
          </a:xfrm>
          <a:prstGeom prst="roundRect">
            <a:avLst>
              <a:gd name="adj" fmla="val 8000"/>
            </a:avLst>
          </a:prstGeom>
          <a:solidFill>
            <a:srgbClr val="FDF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60000" y="4760000"/>
            <a:ext cx="50000" cy="28955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60000" y="4800000"/>
            <a:ext cx="10732000" cy="2095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실습 셀 8: 성적과 수면시간 히스토그램 2개를 나란히.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수면시간의 봉우리는 어디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인가? 평균 6.6시간 — 권장 8시간과 비교하면?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668780" cy="2500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3 · 그림으로 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산점도 — 점 하나가 학생 한 명, 점들의 방향이 관계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실습 데이터: 공부시간·스마트폰시간과 성적의 관계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1회차 · 인공지능 데이터</a:t>
            </a:r>
          </a:p>
        </p:txBody>
      </p:sp>
      <p:pic>
        <p:nvPicPr>
          <p:cNvPr id="8" name="Picture 7" descr="scatter_co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00" y="1400000"/>
            <a:ext cx="7000000" cy="3079466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60000" y="4519466"/>
            <a:ext cx="700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오른쪽 위로 → 양(+)의 관계 · 오른쪽 아래로 → 음(−)의 관계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60000" y="1400000"/>
            <a:ext cx="3872000" cy="30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7760000" y="1400000"/>
            <a:ext cx="3872000" cy="7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940000" y="1570000"/>
            <a:ext cx="351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D97706"/>
                </a:solidFill>
                <a:latin typeface="맑은 고딕"/>
                <a:ea typeface="맑은 고딕"/>
              </a:rPr>
              <a:t>읽는 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40000" y="1920000"/>
            <a:ext cx="3512000" cy="2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점들이 </a:t>
            </a:r>
            <a:r>
              <a:rPr sz="1050" b="1" i="0">
                <a:solidFill>
                  <a:srgbClr val="1F2937"/>
                </a:solidFill>
                <a:latin typeface="맑은 고딕"/>
                <a:ea typeface="맑은 고딕"/>
              </a:rPr>
              <a:t>오른쪽 위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로 몰리면 같이 커진다 (+)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050" b="1" i="0">
                <a:solidFill>
                  <a:srgbClr val="1F2937"/>
                </a:solidFill>
                <a:latin typeface="맑은 고딕"/>
                <a:ea typeface="맑은 고딕"/>
              </a:rPr>
              <a:t>오른쪽 아래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로 향하면 하나가 크면 다른 게 작다 (−)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050" b="1" i="0">
                <a:solidFill>
                  <a:srgbClr val="1F2937"/>
                </a:solidFill>
                <a:latin typeface="맑은 고딕"/>
                <a:ea typeface="맑은 고딕"/>
              </a:rPr>
              <a:t>동그랗게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 퍼지면 관계 없음 (0)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점 하나가 </a:t>
            </a:r>
            <a:r>
              <a:rPr sz="1050" b="1" i="0">
                <a:solidFill>
                  <a:srgbClr val="1F2937"/>
                </a:solidFill>
                <a:latin typeface="맑은 고딕"/>
                <a:ea typeface="맑은 고딕"/>
              </a:rPr>
              <a:t>동떨어져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 있으면 이상치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0000" y="4700000"/>
            <a:ext cx="11072000" cy="409550"/>
          </a:xfrm>
          <a:prstGeom prst="roundRect">
            <a:avLst>
              <a:gd name="adj" fmla="val 8000"/>
            </a:avLst>
          </a:prstGeom>
          <a:solidFill>
            <a:srgbClr val="FDF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60000" y="4760000"/>
            <a:ext cx="50000" cy="28955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60000" y="4800000"/>
            <a:ext cx="10732000" cy="2095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공부시간과 성적 r = +0.63 (꽤 강함), 스마트폰시간과 성적 r = −0.35 (약한 음의 관계). 이 숫자가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상관계수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→ 다음 슬라이드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668780" cy="2500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3 · 그림으로 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상관계수 r: −1에서 +1 사이의 "관계의 세기"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그리고 가장 중요한 경고 — 상관은 인과가 아니다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1회차 · 인공지능 데이터</a:t>
            </a:r>
          </a:p>
        </p:txBody>
      </p:sp>
      <p:pic>
        <p:nvPicPr>
          <p:cNvPr id="8" name="Picture 7" descr="corr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00" y="1400000"/>
            <a:ext cx="7200000" cy="2322843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60000" y="3762843"/>
            <a:ext cx="720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r = +0.9 (강한 양) · 0 (관계 없음) · −0.9 (강한 음)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960000" y="1400000"/>
          <a:ext cx="3672000" cy="1226768"/>
        </p:xfrm>
        <a:graphic>
          <a:graphicData uri="http://schemas.openxmlformats.org/drawingml/2006/table">
            <a:tbl>
              <a:tblPr firstRow="0" bandRow="0"/>
              <a:tblGrid>
                <a:gridCol w="1100000"/>
                <a:gridCol w="2572000"/>
              </a:tblGrid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|r|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해석(대략)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D97706"/>
                    </a:solidFill>
                  </a:tcPr>
                </a:tc>
              </a:tr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0.7 ~ 1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강함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0.3 ~ 0.7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중간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 ~ 0.3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약함·거의 없음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60000" y="4100000"/>
            <a:ext cx="11072000" cy="828650"/>
          </a:xfrm>
          <a:prstGeom prst="roundRect">
            <a:avLst>
              <a:gd name="adj" fmla="val 8000"/>
            </a:avLst>
          </a:prstGeom>
          <a:solidFill>
            <a:srgbClr val="FE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60000" y="4160000"/>
            <a:ext cx="50000" cy="70865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60000" y="4200000"/>
            <a:ext cx="10732000" cy="628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>
                <a:solidFill>
                  <a:srgbClr val="D97706"/>
                </a:solidFill>
                <a:latin typeface="맑은 고딕"/>
                <a:ea typeface="맑은 고딕"/>
              </a:rPr>
              <a:t>상관 ≠ 인과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아이스크림 판매량과 물놀이 사고는 상관이 높다.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아이스크림이 사고를 일으킬까? 아니다 —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더운 날씨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가 둘 다 늘린다(숨은 변수). "공부시간↔성적 r=+0.63"도 "공부가 성적을 올린다"의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증명은 아니다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. 상관은 "같이 움직인다"까지만 말한다.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668780" cy="2500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3 · 그림으로 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막대그래프 — 그룹끼리 비교할 때, 인원(n)도 함께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범주형(아침식사) × 수치형(성적) → groupby로 묶고 막대로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1회차 · 인공지능 데이터</a:t>
            </a:r>
          </a:p>
        </p:txBody>
      </p:sp>
      <p:pic>
        <p:nvPicPr>
          <p:cNvPr id="8" name="Picture 7" descr="bar_gro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00" y="1400000"/>
            <a:ext cx="4103911" cy="2750000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60000" y="4190000"/>
            <a:ext cx="4103911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아침을 먹은 학생이 평균 2.7점 높다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60000" y="1400000"/>
            <a:ext cx="6272000" cy="24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360000" y="1400000"/>
            <a:ext cx="6272000" cy="7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540000" y="1570000"/>
            <a:ext cx="591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D97706"/>
                </a:solidFill>
                <a:latin typeface="맑은 고딕"/>
                <a:ea typeface="맑은 고딕"/>
              </a:rPr>
              <a:t>정직한 막대그래프의 조건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40000" y="1920000"/>
            <a:ext cx="5912000" cy="18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050" b="1" i="0">
                <a:solidFill>
                  <a:srgbClr val="1F2937"/>
                </a:solidFill>
                <a:latin typeface="맑은 고딕"/>
                <a:ea typeface="맑은 고딕"/>
              </a:rPr>
              <a:t>y축은 0부터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 — 0이 아닌 곳에서 시작하면 작은 차이가 커 보인다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막대 위에 </a:t>
            </a:r>
            <a:r>
              <a:rPr sz="1050" b="1" i="0">
                <a:solidFill>
                  <a:srgbClr val="1F2937"/>
                </a:solidFill>
                <a:latin typeface="맑은 고딕"/>
                <a:ea typeface="맑은 고딕"/>
              </a:rPr>
              <a:t>인원(n)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 을 적는다 — 3명 평균과 111명 평균은 무게가 다르다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차이를 </a:t>
            </a:r>
            <a:r>
              <a:rPr sz="1050" b="1" i="0">
                <a:solidFill>
                  <a:srgbClr val="1F2937"/>
                </a:solidFill>
                <a:latin typeface="맑은 고딕"/>
                <a:ea typeface="맑은 고딕"/>
              </a:rPr>
              <a:t>표준편차와 비교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한다 — 2.7점 차이 vs 표준편차 11.8점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그룹을 두 개 이상 겹칠 땐 색과 범례로 구분 (학년 × 성별)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0000" y="4550000"/>
            <a:ext cx="11072000" cy="409550"/>
          </a:xfrm>
          <a:prstGeom prst="roundRect">
            <a:avLst>
              <a:gd name="adj" fmla="val 8000"/>
            </a:avLst>
          </a:prstGeom>
          <a:solidFill>
            <a:srgbClr val="FE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60000" y="4610000"/>
            <a:ext cx="50000" cy="28955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60000" y="4650000"/>
            <a:ext cx="10732000" cy="2095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"아침 먹은 학생이 성적이 높다" → 그러니 아침을 먹으면 성적이 오를까? 규칙적인 생활, 가정 환경 같은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숨은 변수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를 생각해 보자.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668780" cy="2500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3 · 그림으로 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히트맵 — 변수 전부의 상관계수를 색 한 장으로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빨강 = 양(+), 파랑 = 음(−), 진할수록 강함 · 대각선(1.00)은 자기 자신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1회차 · 인공지능 데이터</a:t>
            </a:r>
          </a:p>
        </p:txBody>
      </p:sp>
      <p:pic>
        <p:nvPicPr>
          <p:cNvPr id="8" name="Picture 7" descr="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00" y="1400000"/>
            <a:ext cx="4012824" cy="3600000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60000" y="5040000"/>
            <a:ext cx="4012824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실습 데이터 5개 수치형 변수의 상관계수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60000" y="1400000"/>
            <a:ext cx="6072000" cy="2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560000" y="1400000"/>
            <a:ext cx="6072000" cy="7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740000" y="1570000"/>
            <a:ext cx="571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D97706"/>
                </a:solidFill>
                <a:latin typeface="맑은 고딕"/>
                <a:ea typeface="맑은 고딕"/>
              </a:rPr>
              <a:t>읽는 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40000" y="1920000"/>
            <a:ext cx="5712000" cy="1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050" b="1" i="0">
                <a:solidFill>
                  <a:srgbClr val="1F2937"/>
                </a:solidFill>
                <a:latin typeface="맑은 고딕"/>
                <a:ea typeface="맑은 고딕"/>
              </a:rPr>
              <a:t>성적 행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을 보라: 가장 진한 칸 = 성적과 가장 관련 있는 변수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공부시간 </a:t>
            </a:r>
            <a:r>
              <a:rPr sz="1050" b="1" i="0">
                <a:solidFill>
                  <a:srgbClr val="1F2937"/>
                </a:solidFill>
                <a:latin typeface="맑은 고딕"/>
                <a:ea typeface="맑은 고딕"/>
              </a:rPr>
              <a:t>+0.63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 &gt; 수면시간 +0.33 &gt; 스마트폰 </a:t>
            </a:r>
            <a:r>
              <a:rPr sz="1050" b="1" i="0">
                <a:solidFill>
                  <a:srgbClr val="1F2937"/>
                </a:solidFill>
                <a:latin typeface="맑은 고딕"/>
                <a:ea typeface="맑은 고딕"/>
              </a:rPr>
              <a:t>−0.35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운동시간은 성적과 거의 무관 (≈0)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변수끼리(공부↔스마트폰)도 확인: 0에 가까움 → 독립적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60000" y="4050000"/>
            <a:ext cx="6072000" cy="400025"/>
          </a:xfrm>
          <a:prstGeom prst="roundRect">
            <a:avLst>
              <a:gd name="adj" fmla="val 8000"/>
            </a:avLst>
          </a:prstGeom>
          <a:solidFill>
            <a:srgbClr val="FDF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560000" y="4110000"/>
            <a:ext cx="50000" cy="28002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760000" y="4150000"/>
            <a:ext cx="5732000" cy="2000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히트맵은 </a:t>
            </a:r>
            <a:r>
              <a:rPr sz="1050" b="1" i="0">
                <a:solidFill>
                  <a:srgbClr val="1F2937"/>
                </a:solidFill>
                <a:latin typeface="맑은 고딕"/>
                <a:ea typeface="맑은 고딕"/>
              </a:rPr>
              <a:t>어디를 자세히 볼지</a:t>
            </a: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 정하는 지도다. 진한 칸을 찾았으면 산점도로 확인하자.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668780" cy="2500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3 · 그림으로 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데이터에서 통찰을 얻는 4가지 질문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그래프를 그렸다고 끝이 아니다 — 그림을 "문장"으로 바꿔야 통찰이 된다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1회차 · 인공지능 데이터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1400000"/>
            <a:ext cx="2723000" cy="420000"/>
          </a:xfrm>
          <a:prstGeom prst="roundRect">
            <a:avLst>
              <a:gd name="adj" fmla="val 15000"/>
            </a:avLst>
          </a:prstGeom>
          <a:solidFill>
            <a:srgbClr val="FDF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60000" y="1430000"/>
            <a:ext cx="2723000" cy="3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D97706"/>
                </a:solidFill>
                <a:latin typeface="맑은 고딕"/>
                <a:ea typeface="맑은 고딕"/>
              </a:rPr>
              <a:t>1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F2937"/>
                </a:solidFill>
                <a:latin typeface="맑은 고딕"/>
                <a:ea typeface="맑은 고딕"/>
              </a:rPr>
              <a:t>패턴: 무엇이 무엇과
같이 움직이나?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3000" y="1400000"/>
            <a:ext cx="2723000" cy="420000"/>
          </a:xfrm>
          <a:prstGeom prst="roundRect">
            <a:avLst>
              <a:gd name="adj" fmla="val 15000"/>
            </a:avLst>
          </a:prstGeom>
          <a:solidFill>
            <a:srgbClr val="FDF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343000" y="1430000"/>
            <a:ext cx="2723000" cy="3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D97706"/>
                </a:solidFill>
                <a:latin typeface="맑은 고딕"/>
                <a:ea typeface="맑은 고딕"/>
              </a:rPr>
              <a:t>2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F2937"/>
                </a:solidFill>
                <a:latin typeface="맑은 고딕"/>
                <a:ea typeface="맑은 고딕"/>
              </a:rPr>
              <a:t>차이: 어느 그룹이
더 높은가, 얼마나?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000" y="1400000"/>
            <a:ext cx="2723000" cy="420000"/>
          </a:xfrm>
          <a:prstGeom prst="roundRect">
            <a:avLst>
              <a:gd name="adj" fmla="val 15000"/>
            </a:avLst>
          </a:prstGeom>
          <a:solidFill>
            <a:srgbClr val="FDF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126000" y="1430000"/>
            <a:ext cx="2723000" cy="3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D97706"/>
                </a:solidFill>
                <a:latin typeface="맑은 고딕"/>
                <a:ea typeface="맑은 고딕"/>
              </a:rPr>
              <a:t>3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F2937"/>
                </a:solidFill>
                <a:latin typeface="맑은 고딕"/>
                <a:ea typeface="맑은 고딕"/>
              </a:rPr>
              <a:t>예외: 동떨어진 값은
실수인가 진짜인가?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9000" y="1400000"/>
            <a:ext cx="2723000" cy="420000"/>
          </a:xfrm>
          <a:prstGeom prst="roundRect">
            <a:avLst>
              <a:gd name="adj" fmla="val 15000"/>
            </a:avLst>
          </a:prstGeom>
          <a:solidFill>
            <a:srgbClr val="FDF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909000" y="1430000"/>
            <a:ext cx="2723000" cy="3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D97706"/>
                </a:solidFill>
                <a:latin typeface="맑은 고딕"/>
                <a:ea typeface="맑은 고딕"/>
              </a:rPr>
              <a:t>4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F2937"/>
                </a:solidFill>
                <a:latin typeface="맑은 고딕"/>
                <a:ea typeface="맑은 고딕"/>
              </a:rPr>
              <a:t>한계: 이 데이터는
누구를 대표하나?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0000" y="2100000"/>
            <a:ext cx="5400000" cy="2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0000" y="2100000"/>
            <a:ext cx="5400000" cy="7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0000" y="2270000"/>
            <a:ext cx="504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D97706"/>
                </a:solidFill>
                <a:latin typeface="맑은 고딕"/>
                <a:ea typeface="맑은 고딕"/>
              </a:rPr>
              <a:t>나쁜 통찰 (X)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000" y="2620000"/>
            <a:ext cx="5040000" cy="1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"공부시간과 성적은 관계가 있다" — 방향·크기 없음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"아침 먹으면 성적이 오른다" — 상관을 인과로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"스마트폰을 24시간 쓰는 학생이 있다" — 이상치 검토 없음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2000" y="2100000"/>
            <a:ext cx="5400000" cy="2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232000" y="2100000"/>
            <a:ext cx="5400000" cy="7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12000" y="2270000"/>
            <a:ext cx="504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D97706"/>
                </a:solidFill>
                <a:latin typeface="맑은 고딕"/>
                <a:ea typeface="맑은 고딕"/>
              </a:rPr>
              <a:t>좋은 통찰 (O)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2000" y="2620000"/>
            <a:ext cx="5040000" cy="1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"공부시간과 성적의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상관계수는 +0.63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으로, 공부시간이 길수록 성적이 높은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경향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이 있다"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"아침을 먹은 111명의 평균이 안 먹은 87명보다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2.7점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높지만, 표준편차 11.8점에 비하면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작은 차이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다"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"스마트폰 24시간은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입력 실수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로 보고 제외했다(하루는 24시간)"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0000" y="4750000"/>
            <a:ext cx="11072000" cy="409550"/>
          </a:xfrm>
          <a:prstGeom prst="roundRect">
            <a:avLst>
              <a:gd name="adj" fmla="val 8000"/>
            </a:avLst>
          </a:prstGeom>
          <a:solidFill>
            <a:srgbClr val="FDF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60000" y="4810000"/>
            <a:ext cx="50000" cy="28955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60000" y="4850000"/>
            <a:ext cx="10732000" cy="2095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오늘의 결과물 = 이런 문장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3개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+ 근거 그래프. 숫자(r, 평균, n)가 들어가야 통찰이다.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0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60000" y="1300000"/>
            <a:ext cx="4000000" cy="1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00" b="1" i="0">
                <a:solidFill>
                  <a:srgbClr val="FFFFF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0000" y="3000000"/>
            <a:ext cx="80000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0000" y="3350000"/>
            <a:ext cx="90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>
                <a:solidFill>
                  <a:srgbClr val="FFFFFF"/>
                </a:solidFill>
                <a:latin typeface="맑은 고딕"/>
                <a:ea typeface="맑은 고딕"/>
              </a:rPr>
              <a:t>Colab 실습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0000" y="4250000"/>
            <a:ext cx="90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F3F4F6"/>
                </a:solidFill>
                <a:latin typeface="맑은 고딕"/>
                <a:ea typeface="맑은 고딕"/>
              </a:rPr>
              <a:t>60분 · 노트북 셀 1~16을 순서대로 실행하고 결과를 읽는다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0000" y="1500000"/>
            <a:ext cx="3700000" cy="17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100000" y="1630000"/>
            <a:ext cx="33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C0395F"/>
                </a:solidFill>
                <a:latin typeface="맑은 고딕"/>
                <a:ea typeface="맑은 고딕"/>
              </a:rPr>
              <a:t>이 파트에서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0000" y="192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C0395F"/>
                </a:solidFill>
                <a:latin typeface="맑은 고딕"/>
                <a:ea typeface="맑은 고딕"/>
              </a:rPr>
              <a:t>1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Colab 열기와 노트 업로드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00000" y="225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C0395F"/>
                </a:solidFill>
                <a:latin typeface="맑은 고딕"/>
                <a:ea typeface="맑은 고딕"/>
              </a:rPr>
              <a:t>2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셀 1~8: 데이터 준비·정리·요약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0000" y="258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C0395F"/>
                </a:solidFill>
                <a:latin typeface="맑은 고딕"/>
                <a:ea typeface="맑은 고딕"/>
              </a:rPr>
              <a:t>3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셀 9~16: 그래프·직접 해보기·제출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0000" y="291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C0395F"/>
                </a:solidFill>
                <a:latin typeface="맑은 고딕"/>
                <a:ea typeface="맑은 고딕"/>
              </a:rPr>
              <a:t>4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결과물: 통찰 3가지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C0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565910" cy="250000"/>
          </a:xfrm>
          <a:prstGeom prst="roundRect">
            <a:avLst>
              <a:gd name="adj" fmla="val 50000"/>
            </a:avLst>
          </a:prstGeom>
          <a:solidFill>
            <a:srgbClr val="C0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4 · Colab 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Colab 시작하기 — 설치 없이 브라우저에서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구글 계정만 있으면 된다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1회차 · 인공지능 데이터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1400000"/>
            <a:ext cx="2723000" cy="420000"/>
          </a:xfrm>
          <a:prstGeom prst="roundRect">
            <a:avLst>
              <a:gd name="adj" fmla="val 15000"/>
            </a:avLst>
          </a:prstGeom>
          <a:solidFill>
            <a:srgbClr val="FA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60000" y="1430000"/>
            <a:ext cx="2723000" cy="3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C0395F"/>
                </a:solidFill>
                <a:latin typeface="맑은 고딕"/>
                <a:ea typeface="맑은 고딕"/>
              </a:rPr>
              <a:t>1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F2937"/>
                </a:solidFill>
                <a:latin typeface="맑은 고딕"/>
                <a:ea typeface="맑은 고딕"/>
              </a:rPr>
              <a:t>구글 로그인 후
colab.research.google.com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3000" y="1400000"/>
            <a:ext cx="2723000" cy="420000"/>
          </a:xfrm>
          <a:prstGeom prst="roundRect">
            <a:avLst>
              <a:gd name="adj" fmla="val 15000"/>
            </a:avLst>
          </a:prstGeom>
          <a:solidFill>
            <a:srgbClr val="FA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343000" y="1430000"/>
            <a:ext cx="2723000" cy="3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C0395F"/>
                </a:solidFill>
                <a:latin typeface="맑은 고딕"/>
                <a:ea typeface="맑은 고딕"/>
              </a:rPr>
              <a:t>2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F2937"/>
                </a:solidFill>
                <a:latin typeface="맑은 고딕"/>
                <a:ea typeface="맑은 고딕"/>
              </a:rPr>
              <a:t>파일 → 노트 업로드 →
01_인공지능데이터_실습_colab.ipynb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000" y="1400000"/>
            <a:ext cx="2723000" cy="420000"/>
          </a:xfrm>
          <a:prstGeom prst="roundRect">
            <a:avLst>
              <a:gd name="adj" fmla="val 15000"/>
            </a:avLst>
          </a:prstGeom>
          <a:solidFill>
            <a:srgbClr val="FA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126000" y="1430000"/>
            <a:ext cx="2723000" cy="3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C0395F"/>
                </a:solidFill>
                <a:latin typeface="맑은 고딕"/>
                <a:ea typeface="맑은 고딕"/>
              </a:rPr>
              <a:t>3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F2937"/>
                </a:solidFill>
                <a:latin typeface="맑은 고딕"/>
                <a:ea typeface="맑은 고딕"/>
              </a:rPr>
              <a:t>셀 클릭 → Shift+Enter
(▶ 버튼도 됨)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9000" y="1400000"/>
            <a:ext cx="2723000" cy="420000"/>
          </a:xfrm>
          <a:prstGeom prst="roundRect">
            <a:avLst>
              <a:gd name="adj" fmla="val 15000"/>
            </a:avLst>
          </a:prstGeom>
          <a:solidFill>
            <a:srgbClr val="FA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909000" y="1430000"/>
            <a:ext cx="2723000" cy="3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C0395F"/>
                </a:solidFill>
                <a:latin typeface="맑은 고딕"/>
                <a:ea typeface="맑은 고딕"/>
              </a:rPr>
              <a:t>4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F2937"/>
                </a:solidFill>
                <a:latin typeface="맑은 고딕"/>
                <a:ea typeface="맑은 고딕"/>
              </a:rPr>
              <a:t>위에서부터 순서대로!
건너뛰면 오류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0000" y="2100000"/>
            <a:ext cx="5400000" cy="2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0000" y="2100000"/>
            <a:ext cx="5400000" cy="70000"/>
          </a:xfrm>
          <a:prstGeom prst="rect">
            <a:avLst/>
          </a:prstGeom>
          <a:solidFill>
            <a:srgbClr val="C0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0000" y="2270000"/>
            <a:ext cx="504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C0395F"/>
                </a:solidFill>
                <a:latin typeface="맑은 고딕"/>
                <a:ea typeface="맑은 고딕"/>
              </a:rPr>
              <a:t>알아둘 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000" y="2620000"/>
            <a:ext cx="5040000" cy="1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C0395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첫 실행 때 "런타임 연결 중"이 10초쯤 걸린다 — 정상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C0395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셀 1의 한글 글꼴 설치는 20~30초 — 기다리기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C0395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오류가 나면: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런타임 → 런타임 다시 시작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→ 셀 1부터 다시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C0395F"/>
              </a:buClr>
              <a:buFont typeface="Arial"/>
              <a:buChar char="•"/>
            </a:pPr>
            <a:r>
              <a:rPr sz="1100" b="0" i="0">
                <a:solidFill>
                  <a:srgbClr val="1F4E79"/>
                </a:solidFill>
                <a:latin typeface="맑은 고딕"/>
                <a:ea typeface="맑은 고딕"/>
              </a:rPr>
              <a:t>NameError: name df is not defined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→ 앞 셀을 건너뛴 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2000" y="2100000"/>
            <a:ext cx="5400000" cy="2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232000" y="2100000"/>
            <a:ext cx="5400000" cy="70000"/>
          </a:xfrm>
          <a:prstGeom prst="rect">
            <a:avLst/>
          </a:prstGeom>
          <a:solidFill>
            <a:srgbClr val="C0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12000" y="2270000"/>
            <a:ext cx="504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C0395F"/>
                </a:solidFill>
                <a:latin typeface="맑은 고딕"/>
                <a:ea typeface="맑은 고딕"/>
              </a:rPr>
              <a:t>실습 파일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2000" y="2620000"/>
            <a:ext cx="5040000" cy="1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C0395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노트북: </a:t>
            </a:r>
            <a:r>
              <a:rPr sz="1100" b="0" i="0">
                <a:solidFill>
                  <a:srgbClr val="1F4E79"/>
                </a:solidFill>
                <a:latin typeface="맑은 고딕"/>
                <a:ea typeface="맑은 고딕"/>
              </a:rPr>
              <a:t>01_인공지능데이터_실습_colab.ipynb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C0395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수업자료(설명·예상 출력): </a:t>
            </a:r>
            <a:r>
              <a:rPr sz="1100" b="0" i="0">
                <a:solidFill>
                  <a:srgbClr val="1F4E79"/>
                </a:solidFill>
                <a:latin typeface="맑은 고딕"/>
                <a:ea typeface="맑은 고딕"/>
              </a:rPr>
              <a:t>01_인공지능데이터_수업자료.html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C0395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데이터는 코드 안에서 만들어짐 — 업로드 불필요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C0395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저장: 파일 → 드라이브에 사본 저장 (제출용)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0000" y="4600000"/>
            <a:ext cx="11072000" cy="40955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60000" y="4660000"/>
            <a:ext cx="50000" cy="28955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60000" y="4700000"/>
            <a:ext cx="10732000" cy="2095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코드를 한 줄씩 이해하려 하지 말고,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각 셀의 위 설명(무엇을·왜·무엇을 볼지)을 읽고 → 실행 → 출력을 읽는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순서로. 모르는 줄은 손 들기.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C0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565910" cy="250000"/>
          </a:xfrm>
          <a:prstGeom prst="roundRect">
            <a:avLst>
              <a:gd name="adj" fmla="val 50000"/>
            </a:avLst>
          </a:prstGeom>
          <a:solidFill>
            <a:srgbClr val="C0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4 · Colab 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실습 흐름 ① 셀 1~8 — 데이터 준비 · 정리 · 숫자 요약 (약 30분)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각 셀에서 확인할 것 한 가지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1회차 · 인공지능 데이터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0000" y="1400000"/>
          <a:ext cx="11072000" cy="2760228"/>
        </p:xfrm>
        <a:graphic>
          <a:graphicData uri="http://schemas.openxmlformats.org/drawingml/2006/table">
            <a:tbl>
              <a:tblPr firstRow="0" bandRow="0"/>
              <a:tblGrid>
                <a:gridCol w="700000"/>
                <a:gridCol w="2600000"/>
                <a:gridCol w="5000000"/>
                <a:gridCol w="2772000"/>
              </a:tblGrid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셀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C039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하는 일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C039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확인할 것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C039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연결 개념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C0395F"/>
                    </a:solidFill>
                  </a:tcPr>
                </a:tc>
              </a:tr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도구 불러오기 · 한글 글꼴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"준비 완료!" 출력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학생 200명 데이터 만들기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shape (200, 8) · 앞 10명 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행·열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info()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Non-Null이 200보다 작은 열 = 결측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변수 유형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describe()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max가 이상한 열 (24시간? 15시간?)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요약통계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결측 찾고 중앙값으로 채우기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빈칸 6+4개 → 0개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결측 처리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6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IQR 규칙으로 이상치 찾기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2명 제거 → 198명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이상치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7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평균·중앙값·표준편차 비교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정리 전후 평균 변화 vs 중앙값 불변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대표값·퍼짐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히스토그램 2개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봉우리·꼬리·평균/중앙값 선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분포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C0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565910" cy="250000"/>
          </a:xfrm>
          <a:prstGeom prst="roundRect">
            <a:avLst>
              <a:gd name="adj" fmla="val 50000"/>
            </a:avLst>
          </a:prstGeom>
          <a:solidFill>
            <a:srgbClr val="C0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4 · Colab 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실습 흐름 ② 셀 9~16 — 그래프 · 직접 해보기 · 제출 (약 30분)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🧩 셀 13·14는 직접 코드를 채운다 — 정답은 셀 위에 접혀 있음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1회차 · 인공지능 데이터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0000" y="1400000"/>
          <a:ext cx="11072000" cy="2760228"/>
        </p:xfrm>
        <a:graphic>
          <a:graphicData uri="http://schemas.openxmlformats.org/drawingml/2006/table">
            <a:tbl>
              <a:tblPr firstRow="0" bandRow="0"/>
              <a:tblGrid>
                <a:gridCol w="700000"/>
                <a:gridCol w="2600000"/>
                <a:gridCol w="5000000"/>
                <a:gridCol w="2772000"/>
              </a:tblGrid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셀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C039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하는 일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C039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확인할 것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C039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연결 개념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C0395F"/>
                    </a:solidFill>
                  </a:tcPr>
                </a:tc>
              </a:tr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상자그림 (변수 4개 · 학년별 성적)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어느 변수가 넓게 퍼졌나, 학년 차이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사분위수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산점도 3개 + 상관계수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공부 +, 스마트폰 −, 수면 약한 +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상관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groupby + 막대그래프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아침식사별 평균 차이와 n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그룹 비교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12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상관계수 히트맵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성적 행에서 가장 진한 칸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히트맵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13 🧩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운동시간 vs 성적 산점도 (직접)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r이 0에 가까움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상관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14 🧩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성별 스마트폰시간 (직접)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groupby 결과 표 + 막대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그룹 비교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15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(보너스) 붓꽃 iris 데이터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품종별로 점이 갈라짐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다음 시간 예고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16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📝 통찰 3가지 적고 실행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이름·학번·통찰 출력 → 캡처 제출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결과물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C0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565910" cy="250000"/>
          </a:xfrm>
          <a:prstGeom prst="roundRect">
            <a:avLst>
              <a:gd name="adj" fmla="val 50000"/>
            </a:avLst>
          </a:prstGeom>
          <a:solidFill>
            <a:srgbClr val="C0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4 · Colab 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오늘의 결과물 — "내가 찾은 통찰 3가지"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셀 16에 문장으로 적고 실행 → 출력 화면 캡처 또는 .ipynb 저장 후 제출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1회차 · 인공지능 데이터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1400000"/>
            <a:ext cx="5400000" cy="2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60000" y="1400000"/>
            <a:ext cx="5400000" cy="70000"/>
          </a:xfrm>
          <a:prstGeom prst="rect">
            <a:avLst/>
          </a:prstGeom>
          <a:solidFill>
            <a:srgbClr val="C0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0000" y="1570000"/>
            <a:ext cx="504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C0395F"/>
                </a:solidFill>
                <a:latin typeface="맑은 고딕"/>
                <a:ea typeface="맑은 고딕"/>
              </a:rPr>
              <a:t>통찰 문장의 조건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000" y="1920000"/>
            <a:ext cx="5040000" cy="2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C0395F"/>
              </a:buClr>
              <a:buFont typeface="Arial"/>
              <a:buChar char="•"/>
            </a:pP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변수 이름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이 들어간다 (공부시간, 성적, 아침식사 …)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C0395F"/>
              </a:buClr>
              <a:buFont typeface="Arial"/>
              <a:buChar char="•"/>
            </a:pP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숫자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가 들어간다 (r = +0.63, 평균 62.1 vs 59.4, n = 111 …)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C0395F"/>
              </a:buClr>
              <a:buFont typeface="Arial"/>
              <a:buChar char="•"/>
            </a:pP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근거 그래프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를 말할 수 있다 (셀 10 산점도, 셀 11 막대 …)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C0395F"/>
              </a:buClr>
              <a:buFont typeface="Arial"/>
              <a:buChar char="•"/>
            </a:pP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조심하는 말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이 있다 ("경향이 있다", "인과는 알 수 없다")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C0395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이상치·결측을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어떻게 처리했는지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하나는 포함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2000" y="1400000"/>
            <a:ext cx="5400000" cy="2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232000" y="1400000"/>
            <a:ext cx="5400000" cy="70000"/>
          </a:xfrm>
          <a:prstGeom prst="rect">
            <a:avLst/>
          </a:prstGeom>
          <a:solidFill>
            <a:srgbClr val="C0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12000" y="1570000"/>
            <a:ext cx="504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C0395F"/>
                </a:solidFill>
                <a:latin typeface="맑은 고딕"/>
                <a:ea typeface="맑은 고딕"/>
              </a:rPr>
              <a:t>예시 (베끼지 말고 자기 문장으로)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2000" y="1920000"/>
            <a:ext cx="5040000" cy="2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C0395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"공부시간과 성적의 상관계수는 +0.63으로, 공부시간이 많을수록 성적이 높은 경향이 있다(셀 10)"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C0395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"스마트폰 24시간·공부 15시간은 입력 실수로 판단해 2명을 제외했고, 그 결과 스마트폰시간 평균이 3.64→3.53으로 내려갔다(셀 6·7)"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C0395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맑은 고딕"/>
                <a:ea typeface="맑은 고딕"/>
              </a:rPr>
              <a:t>"아침을 먹은 학생(n=111)의 평균 성적이 2.7점 높지만 표준편차 11.8에 비하면 작은 차이다(셀 11)"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0000" y="4500000"/>
            <a:ext cx="11072000" cy="61910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0000" y="4560000"/>
            <a:ext cx="50000" cy="4991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60000" y="4600000"/>
            <a:ext cx="10732000" cy="4191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>
                <a:solidFill>
                  <a:srgbClr val="1B2A4A"/>
                </a:solidFill>
                <a:latin typeface="맑은 고딕"/>
                <a:ea typeface="맑은 고딕"/>
              </a:rPr>
              <a:t>더 해보기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다 한 사람은: bins 바꿔 보기 · 학년별 스마트폰시간 상자그림 · 수면시간 7시간 이상/미만 두 그룹의 성적 비교 (groupby에 조건 넣기)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60000" y="1300000"/>
            <a:ext cx="4000000" cy="1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00" b="1" i="0">
                <a:solidFill>
                  <a:srgbClr val="FFFFFF"/>
                </a:solidFill>
                <a:latin typeface="맑은 고딕"/>
                <a:ea typeface="맑은 고딕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0000" y="3000000"/>
            <a:ext cx="80000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PART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0000" y="3350000"/>
            <a:ext cx="90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>
                <a:solidFill>
                  <a:srgbClr val="FFFFFF"/>
                </a:solidFill>
                <a:latin typeface="맑은 고딕"/>
                <a:ea typeface="맑은 고딕"/>
              </a:rPr>
              <a:t>정리와 평가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0000" y="4250000"/>
            <a:ext cx="90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F3F4F6"/>
                </a:solidFill>
                <a:latin typeface="맑은 고딕"/>
                <a:ea typeface="맑은 고딕"/>
              </a:rPr>
              <a:t>핵심 3줄 · 퀴즈 · 평가 기준 · 다음 시간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0000" y="1500000"/>
            <a:ext cx="3700000" cy="17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100000" y="1630000"/>
            <a:ext cx="33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1B2A4A"/>
                </a:solidFill>
                <a:latin typeface="맑은 고딕"/>
                <a:ea typeface="맑은 고딕"/>
              </a:rPr>
              <a:t>이 파트에서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0000" y="192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1B2A4A"/>
                </a:solidFill>
                <a:latin typeface="맑은 고딕"/>
                <a:ea typeface="맑은 고딕"/>
              </a:rPr>
              <a:t>1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핵심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00000" y="225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1B2A4A"/>
                </a:solidFill>
                <a:latin typeface="맑은 고딕"/>
                <a:ea typeface="맑은 고딕"/>
              </a:rPr>
              <a:t>2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퀴즈 3문항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0000" y="258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1B2A4A"/>
                </a:solidFill>
                <a:latin typeface="맑은 고딕"/>
                <a:ea typeface="맑은 고딕"/>
              </a:rPr>
              <a:t>3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실습 결과 평가 기준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0000" y="291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1B2A4A"/>
                </a:solidFill>
                <a:latin typeface="맑은 고딕"/>
                <a:ea typeface="맑은 고딕"/>
              </a:rPr>
              <a:t>4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다음 시간: 지도학습 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554480" cy="25000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5 · 정리와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오늘의 핵심 3줄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1회차 · 인공지능 데이터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0000" y="1400000"/>
            <a:ext cx="11072000" cy="447650"/>
          </a:xfrm>
          <a:prstGeom prst="roundRect">
            <a:avLst>
              <a:gd name="adj" fmla="val 8000"/>
            </a:avLst>
          </a:prstGeom>
          <a:solidFill>
            <a:srgbClr val="E8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0000" y="1460000"/>
            <a:ext cx="50000" cy="32765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60000" y="1500000"/>
            <a:ext cx="10732000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300" b="1" i="0">
                <a:solidFill>
                  <a:srgbClr val="1F2937"/>
                </a:solidFill>
                <a:latin typeface="맑은 고딕"/>
                <a:ea typeface="맑은 고딕"/>
              </a:rPr>
              <a:t>1. 데이터는 표다.</a:t>
            </a: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</a:rPr>
              <a:t> 행 = 사례, 열 = 변수. 수치형은 평균·중앙값·표준편차로, 범주형은 개수·비율로 요약한다. 분석 전에 결측·이상치·편향부터 검사한다.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0000" y="2400000"/>
            <a:ext cx="11072000" cy="447650"/>
          </a:xfrm>
          <a:prstGeom prst="roundRect">
            <a:avLst>
              <a:gd name="adj" fmla="val 8000"/>
            </a:avLst>
          </a:prstGeom>
          <a:solidFill>
            <a:srgbClr val="E8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0000" y="2460000"/>
            <a:ext cx="50000" cy="32765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60000" y="2500000"/>
            <a:ext cx="10732000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300" b="1" i="0">
                <a:solidFill>
                  <a:srgbClr val="1F2937"/>
                </a:solidFill>
                <a:latin typeface="맑은 고딕"/>
                <a:ea typeface="맑은 고딕"/>
              </a:rPr>
              <a:t>2. 질문이 그래프를 정한다.</a:t>
            </a: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</a:rPr>
              <a:t> 분포 → 히스토그램·상자그림, 관계 → 산점도·상관계수·히트맵, 그룹 비교 → 막대그래프. 평균만 보지 말고 모양을 보라.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0000" y="3400000"/>
            <a:ext cx="11072000" cy="447650"/>
          </a:xfrm>
          <a:prstGeom prst="roundRect">
            <a:avLst>
              <a:gd name="adj" fmla="val 8000"/>
            </a:avLst>
          </a:prstGeom>
          <a:solidFill>
            <a:srgbClr val="E8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0000" y="3460000"/>
            <a:ext cx="50000" cy="32765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0000" y="3500000"/>
            <a:ext cx="10732000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300" b="1" i="0">
                <a:solidFill>
                  <a:srgbClr val="1F2937"/>
                </a:solidFill>
                <a:latin typeface="맑은 고딕"/>
                <a:ea typeface="맑은 고딕"/>
              </a:rPr>
              <a:t>3. 통찰은 숫자가 든 문장이다.</a:t>
            </a: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</a:rPr>
              <a:t> "r = +0.63으로 … 경향이 있다". 상관은 인과가 아니다 — 숨은 변수를 항상 의심한다.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0000" y="4500000"/>
            <a:ext cx="11072000" cy="1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0000" y="4500000"/>
            <a:ext cx="11072000" cy="7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0000" y="4670000"/>
            <a:ext cx="1071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B2A4A"/>
                </a:solidFill>
                <a:latin typeface="맑은 고딕"/>
                <a:ea typeface="맑은 고딕"/>
              </a:rPr>
              <a:t>다음 시간 (10/6) · 지도학습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000" y="5020000"/>
            <a:ext cx="10712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오늘 본 "공부시간 → 성적", "꽃잎 크기 → 품종" 패턴을 컴퓨터가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스스로 배워 예측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하게 만든다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회귀 vs 분류, 선형회귀·kNN·결정트리 — 문제에 맞는 알고리즘 고르기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554480" cy="25000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5 · 정리와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퀴즈 — 3문항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손 들고 답하기 (정답은 다음 슬라이드)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1회차 · 인공지능 데이터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1400000"/>
            <a:ext cx="11072000" cy="12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60000" y="1400000"/>
            <a:ext cx="11072000" cy="7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0000" y="1570000"/>
            <a:ext cx="1071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B2A4A"/>
                </a:solidFill>
                <a:latin typeface="맑은 고딕"/>
                <a:ea typeface="맑은 고딕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000" y="1920000"/>
            <a:ext cx="107120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용돈 데이터 [3, 4, 4, 5, 5, 6, 6, 7, 60]에서 "대부분 학생의 용돈"을 가장 잘 나타내는 값은? ① 평균 ② 중앙값 ③ 최댓값 ④ 표준편차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0000" y="2750000"/>
            <a:ext cx="11072000" cy="12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0000" y="2750000"/>
            <a:ext cx="11072000" cy="7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0000" y="2920000"/>
            <a:ext cx="1071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B2A4A"/>
                </a:solidFill>
                <a:latin typeface="맑은 고딕"/>
                <a:ea typeface="맑은 고딕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000" y="3270000"/>
            <a:ext cx="107120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"학년별 평균 성적을 비교"하고 싶다. 가장 알맞은 그래프는? ① 히스토그램 ② 산점도 ③ 막대그래프 ④ 히트맵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0000" y="4100000"/>
            <a:ext cx="11072000" cy="1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0000" y="4100000"/>
            <a:ext cx="11072000" cy="7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0000" y="4270000"/>
            <a:ext cx="1071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B2A4A"/>
                </a:solidFill>
                <a:latin typeface="맑은 고딕"/>
                <a:ea typeface="맑은 고딕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000" y="4620000"/>
            <a:ext cx="10712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아이스크림 판매량과 물놀이 사고 수의 상관계수가 +0.8이다. 옳은 해석은? ① 아이스크림이 사고를 일으킨다 ② 사고가 아이스크림 판매를 늘린다 ③ 더운 날씨 같은 숨은 변수가 둘 다 늘렸을 수 있다 ④ 상관계수가 높으므로 인과관계가 증명된다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554480" cy="25000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5 · 정리와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퀴즈 정답과 풀이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1회차 · 인공지능 데이터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0000" y="1400000"/>
            <a:ext cx="11072000" cy="438125"/>
          </a:xfrm>
          <a:prstGeom prst="roundRect">
            <a:avLst>
              <a:gd name="adj" fmla="val 8000"/>
            </a:avLst>
          </a:prstGeom>
          <a:solidFill>
            <a:srgbClr val="E8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0000" y="1460000"/>
            <a:ext cx="50000" cy="318125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60000" y="1500000"/>
            <a:ext cx="10732000" cy="238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50" b="1" i="0">
                <a:solidFill>
                  <a:srgbClr val="1F2937"/>
                </a:solidFill>
                <a:latin typeface="맑은 고딕"/>
                <a:ea typeface="맑은 고딕"/>
              </a:rPr>
              <a:t>Q1 ② 중앙값(5).</a:t>
            </a:r>
            <a:r>
              <a:rPr sz="1250" b="0" i="0">
                <a:solidFill>
                  <a:srgbClr val="1F2937"/>
                </a:solidFill>
                <a:latin typeface="맑은 고딕"/>
                <a:ea typeface="맑은 고딕"/>
              </a:rPr>
              <a:t> 60이라는 이상치가 평균을 11.1로 끌어올린다. 이상치가 있으면 중앙값이 대표값으로 정직하다.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0000" y="2400000"/>
            <a:ext cx="11072000" cy="438125"/>
          </a:xfrm>
          <a:prstGeom prst="roundRect">
            <a:avLst>
              <a:gd name="adj" fmla="val 8000"/>
            </a:avLst>
          </a:prstGeom>
          <a:solidFill>
            <a:srgbClr val="E8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0000" y="2460000"/>
            <a:ext cx="50000" cy="318125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60000" y="2500000"/>
            <a:ext cx="10732000" cy="238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50" b="1" i="0">
                <a:solidFill>
                  <a:srgbClr val="1F2937"/>
                </a:solidFill>
                <a:latin typeface="맑은 고딕"/>
                <a:ea typeface="맑은 고딕"/>
              </a:rPr>
              <a:t>Q2 ③ 막대그래프.</a:t>
            </a:r>
            <a:r>
              <a:rPr sz="1250" b="0" i="0">
                <a:solidFill>
                  <a:srgbClr val="1F2937"/>
                </a:solidFill>
                <a:latin typeface="맑은 고딕"/>
                <a:ea typeface="맑은 고딕"/>
              </a:rPr>
              <a:t> 범주형(학년) × 수치형(성적 평균)의 그룹 비교. 히스토그램은 한 변수의 분포, 산점도는 수치형 두 변수의 관계.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0000" y="3400000"/>
            <a:ext cx="11072000" cy="438125"/>
          </a:xfrm>
          <a:prstGeom prst="roundRect">
            <a:avLst>
              <a:gd name="adj" fmla="val 8000"/>
            </a:avLst>
          </a:prstGeom>
          <a:solidFill>
            <a:srgbClr val="E8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0000" y="3460000"/>
            <a:ext cx="50000" cy="318125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0000" y="3500000"/>
            <a:ext cx="10732000" cy="238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50" b="1" i="0">
                <a:solidFill>
                  <a:srgbClr val="1F2937"/>
                </a:solidFill>
                <a:latin typeface="맑은 고딕"/>
                <a:ea typeface="맑은 고딕"/>
              </a:rPr>
              <a:t>Q3 ③.</a:t>
            </a:r>
            <a:r>
              <a:rPr sz="1250" b="0" i="0">
                <a:solidFill>
                  <a:srgbClr val="1F2937"/>
                </a:solidFill>
                <a:latin typeface="맑은 고딕"/>
                <a:ea typeface="맑은 고딕"/>
              </a:rPr>
              <a:t> 상관은 "같이 움직인다"까지만 말한다. 원인은 실험이나 추가 근거로 따로 밝혀야 한다.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0000" y="4400000"/>
            <a:ext cx="11072000" cy="42860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0000" y="4460000"/>
            <a:ext cx="50000" cy="3086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60000" y="4500000"/>
            <a:ext cx="1073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보너스: 실습 데이터에서 성적과 상관이 가장 높은 변수는? (히트맵 성적 행에서 가장 진한 칸 → 공부시간 +0.63)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554480" cy="25000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5 · 정리와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실습 결과 평가 기준 — "통계분석 결과를 적절한 방법으로 시각화"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제출물: 셀 16 출력 캡처(또는 .ipynb) + 근거 그래프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1회차 · 인공지능 데이터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0000" y="1400000"/>
          <a:ext cx="11072000" cy="2280000"/>
        </p:xfrm>
        <a:graphic>
          <a:graphicData uri="http://schemas.openxmlformats.org/drawingml/2006/table">
            <a:tbl>
              <a:tblPr firstRow="0" bandRow="0"/>
              <a:tblGrid>
                <a:gridCol w="2200000"/>
                <a:gridCol w="3000000"/>
                <a:gridCol w="3000000"/>
                <a:gridCol w="2872000"/>
              </a:tblGrid>
              <a:tr h="380000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항목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우수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보통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노력 필요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1B2A4A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데이터 정리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결측·이상치를 찾고 처리 이유를 설명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결측·이상치를 찾음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찾지 못함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통계 요약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평균·중앙값·표준편차를 구하고 차이를 해석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값을 구함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구하지 못함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시각화 선택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질문에 맞는 그래프 4종 이상, 축·제목 있음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그래프 2~3종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그래프 1종 이하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통찰 문장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3개 모두 변수·숫자·근거·조심하는 말 포함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2개 이상, 숫자 포함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숫자 없는 문장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직접 해보기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🧩 셀 13·14 모두 성공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하나 성공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미완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0000" y="4400000"/>
            <a:ext cx="11072000" cy="409550"/>
          </a:xfrm>
          <a:prstGeom prst="roundRect">
            <a:avLst>
              <a:gd name="adj" fmla="val 8000"/>
            </a:avLst>
          </a:prstGeom>
          <a:solidFill>
            <a:srgbClr val="FE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0000" y="4460000"/>
            <a:ext cx="50000" cy="28955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60000" y="4500000"/>
            <a:ext cx="10732000" cy="2095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점수보다 중요한 것: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자기 문장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으로 쓴 통찰. 예시를 그대로 베낀 문장은 "보통" 이하.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
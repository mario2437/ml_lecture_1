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000" cy="6858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0000" y="1500000"/>
            <a:ext cx="9500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A5B4CB"/>
                </a:solidFill>
                <a:latin typeface="맑은 고딕"/>
                <a:ea typeface="맑은 고딕"/>
              </a:rPr>
              <a:t>2026 경기도 공유학교 · 인공지능 기초  ·  3회차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00" y="2000000"/>
            <a:ext cx="980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1" i="0">
                <a:solidFill>
                  <a:srgbClr val="FFFFFF"/>
                </a:solidFill>
                <a:latin typeface="맑은 고딕"/>
                <a:ea typeface="맑은 고딕"/>
              </a:rPr>
              <a:t>지도학습 2 및
모델 평가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000" y="3650000"/>
            <a:ext cx="950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DDE3EE"/>
                </a:solidFill>
                <a:latin typeface="맑은 고딕"/>
                <a:ea typeface="맑은 고딕"/>
              </a:rPr>
              <a:t>"이 모델, 정말 잘하는 걸까? — 재는 법과 올리는 법"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00" y="4500000"/>
            <a:ext cx="9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A5B4CB"/>
                </a:solidFill>
                <a:latin typeface="맑은 고딕"/>
                <a:ea typeface="맑은 고딕"/>
              </a:rPr>
              <a:t>—  성취기준 [인일 03-04] 인공지능 모델의 성능을 비교하고 개선할 수 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00" y="4830000"/>
            <a:ext cx="9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A5B4CB"/>
                </a:solidFill>
                <a:latin typeface="맑은 고딕"/>
                <a:ea typeface="맑은 고딕"/>
              </a:rPr>
              <a:t>—  오늘: 왜 평가하는가 → 성능 지표 → 개선하기 → Colab 실습(모델 비교표·튜닝)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000" y="5160000"/>
            <a:ext cx="9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A5B4CB"/>
                </a:solidFill>
                <a:latin typeface="맑은 고딕"/>
                <a:ea typeface="맑은 고딕"/>
              </a:rPr>
              <a:t>—  오늘의 결과물: 개선 전후 비교표 + "내가 이 모델을 고른 이유" 2~3문장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628650" cy="2500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0" rIns="600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학습목표와 오늘의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강의 45분 + Colab 실습 60분 + 정리 15분 — 결과물은 "숫자 근거가 있는 결정"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3회차 · 지도학습 2 및 모델 평가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4300000" cy="3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0000" y="1400000"/>
            <a:ext cx="4300000" cy="7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0000" y="1570000"/>
            <a:ext cx="39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학습목표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000" y="1920000"/>
            <a:ext cx="3940000" cy="2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훈련·테스트를 나누어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공정하게 평가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하는 이유를 말한다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정확도·정밀도·재현율·F1·혼동행렬을 읽고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정확도의 함정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을 예로 든다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과적합을 그래프로 확인하고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교차검증·튜닝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으로 개선한다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성능표를 근거로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개선 방향을 결정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하고 이유를 쓴다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60000" y="1400000"/>
          <a:ext cx="6550000" cy="2100000"/>
        </p:xfrm>
        <a:graphic>
          <a:graphicData uri="http://schemas.openxmlformats.org/drawingml/2006/table">
            <a:tbl>
              <a:tblPr/>
              <a:tblGrid>
                <a:gridCol w="8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형태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0:00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인사 · 2회차 복습 · 오늘의 목표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강의 5분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0:05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PART 1 왜 평가하는가 — 외운 모델 vs 이해한 모델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강의 15분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0:20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PART 2 성능 지표 — 정확도의 함정 · 혼동행렬 · 회귀 지표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강의 15분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0:35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PART 3 개선하기 — 교차검증 · 튜닝 · 스케일링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강의 10분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0:45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PART 4 Colab 실습 — 비교표 → 진단 → 튜닝 → 전후 비교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실습 60분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1:45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결과물 공유 · 퀴즈 · 정리 · 다음 시간 예고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15분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60000" y="4600000"/>
            <a:ext cx="11072000" cy="60005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0000" y="4660000"/>
            <a:ext cx="50000" cy="4800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0000" y="4700000"/>
            <a:ext cx="10732000" cy="400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50" b="1" i="0">
                <a:solidFill>
                  <a:srgbClr val="1B2A4A"/>
                </a:solidFill>
                <a:latin typeface="맑은 고딕"/>
                <a:ea typeface="맑은 고딕"/>
              </a:rPr>
              <a:t>실습 환경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준비물: 구글 계정 + 크롬 브라우저. 실습 파일 </a:t>
            </a:r>
            <a:r>
              <a:rPr sz="1050" b="0" i="0">
                <a:solidFill>
                  <a:srgbClr val="1F4E79"/>
                </a:solidFill>
                <a:latin typeface="맑은 고딕"/>
                <a:ea typeface="맑은 고딕"/>
              </a:rPr>
              <a:t>03_지도학습2_모델평가_실습_colab.ipynb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는 선생님이 나눠 줍니다. 데이터는 코드 안에서 자동으로 불러오므로 업로드할 파일이 없습니다.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628650" cy="2500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0" rIns="600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지난 시간 복습 — 지도학습 세 가지 알고리즘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정답(y)이 있는 데이터로 규칙을 배우는 것이 지도학습. 회귀는 숫자를, 분류는 종류를 맞힌다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3회차 · 지도학습 2 및 모델 평가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0000" y="1400000"/>
          <a:ext cx="11072000" cy="1650000"/>
        </p:xfrm>
        <a:graphic>
          <a:graphicData uri="http://schemas.openxmlformats.org/drawingml/2006/table">
            <a:tbl>
              <a:tblPr/>
              <a:tblGrid>
                <a:gridCol w="2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알고리즘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원리 한 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어울리는 문제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사람이 정하는 값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kNN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가장 가까운 이웃 k명의 다수결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분류 (경계가 구불구불)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k (이웃 수)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결정트리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"○○이 크면?" 질문을 이어 가며 나누기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분류·회귀, 설명이 필요할 때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깊이 (max_depth)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선형회귀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점들 사이로 가장 잘 맞는 직선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회귀 (숫자 예측)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(거의 없음)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로지스틱 회귀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직선으로 "확률"을 만들어 분류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분류 (예/아니오)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C (단순함 정도)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0000" y="3700000"/>
            <a:ext cx="11072000" cy="419075"/>
          </a:xfrm>
          <a:prstGeom prst="roundRect">
            <a:avLst>
              <a:gd name="adj" fmla="val 8000"/>
            </a:avLst>
          </a:prstGeom>
          <a:solidFill>
            <a:srgbClr val="E8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0000" y="3760000"/>
            <a:ext cx="50000" cy="29907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0000" y="3800000"/>
            <a:ext cx="10732000" cy="219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2회차에 만든 모델은 "훈련 데이터에서 몇 % 맞혔나"만 봤습니다.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그 점수를 믿어도 될까요?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 오늘의 출발점입니다.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0000" y="4600000"/>
            <a:ext cx="11072000" cy="400025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0000" y="4660000"/>
            <a:ext cx="50000" cy="28002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0000" y="4700000"/>
            <a:ext cx="10732000" cy="200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오늘 새로 만나는 말: 과적합 · 훈련/테스트 · 혼동행렬 · 정밀도/재현율 · 교차검증 · 하이퍼파라미터 · 스케일링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0000" y="1300000"/>
            <a:ext cx="4000000" cy="1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0" b="1" i="0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0000" y="3000000"/>
            <a:ext cx="800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000" y="3350000"/>
            <a:ext cx="90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FFFFFF"/>
                </a:solidFill>
                <a:latin typeface="맑은 고딕"/>
                <a:ea typeface="맑은 고딕"/>
              </a:rPr>
              <a:t>왜 평가하는가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0000" y="4250000"/>
            <a:ext cx="9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F3F4F6"/>
                </a:solidFill>
                <a:latin typeface="맑은 고딕"/>
                <a:ea typeface="맑은 고딕"/>
              </a:rPr>
              <a:t>외운 학생과 이해한 학생을 구별하려면 새 문제를 내야 한다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0000" y="1500000"/>
            <a:ext cx="3700000" cy="17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00000" y="1630000"/>
            <a:ext cx="33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4F5BD5"/>
                </a:solidFill>
                <a:latin typeface="맑은 고딕"/>
                <a:ea typeface="맑은 고딕"/>
              </a:rPr>
              <a:t>이 파트에서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000" y="192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4F5BD5"/>
                </a:solidFill>
                <a:latin typeface="맑은 고딕"/>
                <a:ea typeface="맑은 고딕"/>
              </a:rPr>
              <a:t>1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외운 모델 vs 이해한 모델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0000" y="225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4F5BD5"/>
                </a:solidFill>
                <a:latin typeface="맑은 고딕"/>
                <a:ea typeface="맑은 고딕"/>
              </a:rPr>
              <a:t>2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과소적합 · 적합 · 과적합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258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4F5BD5"/>
                </a:solidFill>
                <a:latin typeface="맑은 고딕"/>
                <a:ea typeface="맑은 고딕"/>
              </a:rPr>
              <a:t>3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훈련 / 검증 / 테스트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0000" y="291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4F5BD5"/>
                </a:solidFill>
                <a:latin typeface="맑은 고딕"/>
                <a:ea typeface="맑은 고딕"/>
              </a:rPr>
              <a:t>4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과적합을 눈으로 — 트리 깊이 실험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668780" cy="25000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0" rIns="600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1 · 왜 평가하는가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문제집 답을 외운 학생은 새 문제를 못 푼다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모델도 훈련 데이터를 통째로 외울 수 있다 — 그러면 훈련 점수는 100%, 새 데이터는 엉망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3회차 · 지도학습 2 및 모델 평가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5400000" cy="2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0000" y="1400000"/>
            <a:ext cx="5400000" cy="70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0000" y="15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4F5BD5"/>
                </a:solidFill>
                <a:latin typeface="맑은 고딕"/>
                <a:ea typeface="맑은 고딕"/>
              </a:rPr>
              <a:t>외운 학생 = 과적합 모델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000" y="1920000"/>
            <a:ext cx="5040000" cy="1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문제집(훈련 데이터)은 100점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숫자 하나만 바뀐 새 문제는 틀림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규칙이 아니라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답 자체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를 기억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너무 복잡한 모델·너무 적은 데이터에서 잘 생김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2000" y="1400000"/>
            <a:ext cx="5400000" cy="2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2000" y="1400000"/>
            <a:ext cx="5400000" cy="70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2000" y="15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4F5BD5"/>
                </a:solidFill>
                <a:latin typeface="맑은 고딕"/>
                <a:ea typeface="맑은 고딕"/>
              </a:rPr>
              <a:t>이해한 학생 = 잘 배운 모델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2000" y="1920000"/>
            <a:ext cx="5040000" cy="1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문제집도 잘 풀고 새 문제도 잘 풂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원리(패턴)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를 기억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조금 틀리더라도 새 데이터에 강함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우리가 원하는 모델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0000" y="4100000"/>
            <a:ext cx="11072000" cy="428600"/>
          </a:xfrm>
          <a:prstGeom prst="roundRect">
            <a:avLst>
              <a:gd name="adj" fmla="val 8000"/>
            </a:avLst>
          </a:prstGeom>
          <a:solidFill>
            <a:srgbClr val="EC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60000" y="4160000"/>
            <a:ext cx="50000" cy="3086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0000" y="4200000"/>
            <a:ext cx="1073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그래서 모델의 실력은 </a:t>
            </a:r>
            <a:r>
              <a:rPr sz="1200" b="1" i="0">
                <a:solidFill>
                  <a:srgbClr val="1F2937"/>
                </a:solidFill>
                <a:latin typeface="맑은 고딕"/>
                <a:ea typeface="맑은 고딕"/>
              </a:rPr>
              <a:t>본 적 없는 데이터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로 재야 합니다. 시험 문제를 미리 본 학생의 점수는 실력이 아니니까요.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0000" y="5100000"/>
            <a:ext cx="3650666" cy="420000"/>
          </a:xfrm>
          <a:prstGeom prst="roundRect">
            <a:avLst>
              <a:gd name="adj" fmla="val 15000"/>
            </a:avLst>
          </a:prstGeom>
          <a:solidFill>
            <a:srgbClr val="EC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0000" y="5130000"/>
            <a:ext cx="3650666" cy="3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4F5BD5"/>
                </a:solidFill>
                <a:latin typeface="맑은 고딕"/>
                <a:ea typeface="맑은 고딕"/>
              </a:rPr>
              <a:t>1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훈련 데이터로 배우기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0666" y="5100000"/>
            <a:ext cx="3650666" cy="420000"/>
          </a:xfrm>
          <a:prstGeom prst="roundRect">
            <a:avLst>
              <a:gd name="adj" fmla="val 15000"/>
            </a:avLst>
          </a:prstGeom>
          <a:solidFill>
            <a:srgbClr val="EC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70666" y="5130000"/>
            <a:ext cx="3650666" cy="3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4F5BD5"/>
                </a:solidFill>
                <a:latin typeface="맑은 고딕"/>
                <a:ea typeface="맑은 고딕"/>
              </a:rPr>
              <a:t>2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본 적 없는 데이터로 시험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81332" y="5100000"/>
            <a:ext cx="3650666" cy="420000"/>
          </a:xfrm>
          <a:prstGeom prst="roundRect">
            <a:avLst>
              <a:gd name="adj" fmla="val 15000"/>
            </a:avLst>
          </a:prstGeom>
          <a:solidFill>
            <a:srgbClr val="EC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81332" y="5130000"/>
            <a:ext cx="3650666" cy="3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4F5BD5"/>
                </a:solidFill>
                <a:latin typeface="맑은 고딕"/>
                <a:ea typeface="맑은 고딕"/>
              </a:rPr>
              <a:t>3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점수 차이가 크면 "외운 것"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668780" cy="25000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0" rIns="600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1 · 왜 평가하는가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과소적합 · 적합 · 과적합 — 같은 점, 다른 곡선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너무 단순하면 훈련조차 못 맞히고(과소적합), 너무 복잡하면 훈련만 맞힌다(과적합)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3회차 · 지도학습 2 및 모델 평가</a:t>
            </a:r>
          </a:p>
        </p:txBody>
      </p:sp>
      <p:pic>
        <p:nvPicPr>
          <p:cNvPr id="8" name="Picture 7" descr="fi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1400000"/>
            <a:ext cx="11072000" cy="3623564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60000" y="5063564"/>
            <a:ext cx="11072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같은 25개 점을 1차·3차·15차 곡선으로 맞춘 결과. 15차 곡선은 모든 점을 지나가지만 새 점은 엉뚱하게 예측한다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0000" y="5350000"/>
          <a:ext cx="11072000" cy="920076"/>
        </p:xfrm>
        <a:graphic>
          <a:graphicData uri="http://schemas.openxmlformats.org/drawingml/2006/table">
            <a:tbl>
              <a:tblPr/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692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상태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4F5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증상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4F5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처방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4F5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69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과소적합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훈련도 테스트도 낮음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더 복잡한 모델 · 특징 추가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69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과적합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훈련은 높은데 테스트가 낮음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단순하게(깊이 제한, k 늘리기) · 데이터 늘리기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668780" cy="25000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0" rIns="600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1 · 왜 평가하는가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데이터를 셋으로 나눈다 — 문제집 · 모의고사 · 수능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테스트 데이터는 "수능"처럼 마지막에 딱 한 번만 쓴다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3회차 · 지도학습 2 및 모델 평가</a:t>
            </a:r>
          </a:p>
        </p:txBody>
      </p:sp>
      <p:pic>
        <p:nvPicPr>
          <p:cNvPr id="8" name="Picture 7" descr="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1400000"/>
            <a:ext cx="6600000" cy="214500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360000" y="1500000"/>
            <a:ext cx="42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1" i="0">
                <a:solidFill>
                  <a:srgbClr val="4F5BD5"/>
                </a:solidFill>
                <a:latin typeface="맑은 고딕"/>
                <a:ea typeface="맑은 고딕"/>
              </a:rPr>
              <a:t>훈련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규칙을 배우는 데이터 → </a:t>
            </a:r>
            <a:r>
              <a:rPr sz="1100" b="0" i="0">
                <a:solidFill>
                  <a:srgbClr val="1F4E79"/>
                </a:solidFill>
                <a:latin typeface="맑은 고딕"/>
                <a:ea typeface="맑은 고딕"/>
              </a:rPr>
              <a:t>fit()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1" i="0">
                <a:solidFill>
                  <a:srgbClr val="4F5BD5"/>
                </a:solidFill>
                <a:latin typeface="맑은 고딕"/>
                <a:ea typeface="맑은 고딕"/>
              </a:rPr>
              <a:t>검증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설정(k·깊이)을 고를 때 쓰는 데이터 → 교차검증이 대신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1" i="0">
                <a:solidFill>
                  <a:srgbClr val="4F5BD5"/>
                </a:solidFill>
                <a:latin typeface="맑은 고딕"/>
                <a:ea typeface="맑은 고딕"/>
              </a:rPr>
              <a:t>테스트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최종 실력 확인,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단 한 번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→ </a:t>
            </a:r>
            <a:r>
              <a:rPr sz="1100" b="0" i="0">
                <a:solidFill>
                  <a:srgbClr val="1F4E79"/>
                </a:solidFill>
                <a:latin typeface="맑은 고딕"/>
                <a:ea typeface="맑은 고딕"/>
              </a:rPr>
              <a:t>score()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0000" y="3750000"/>
            <a:ext cx="11072000" cy="1038160"/>
          </a:xfrm>
          <a:prstGeom prst="roundRect">
            <a:avLst>
              <a:gd name="adj" fmla="val 5000"/>
            </a:avLst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00000" y="3840000"/>
            <a:ext cx="573024" cy="20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0" rIns="6000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</a:rPr>
              <a:t>실습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024" y="3820000"/>
            <a:ext cx="10138976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한 줄로 나누기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4110000"/>
            <a:ext cx="10752000" cy="6181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from sklearn.model_selection import train_test_split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X_train, X_test, y_train, y_test = train_test_split(X, y, test_size=0.3, random_state=42, stratify=y)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86EFAC"/>
                </a:solidFill>
                <a:latin typeface="Consolas"/>
                <a:ea typeface="Consolas"/>
              </a:rPr>
              <a:t># test_size=0.3 → 30%를 테스트로   random_state=42 → 섞는 방법 고정   stratify=y → 품종 비율 유지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0000" y="5100000"/>
            <a:ext cx="11072000" cy="409550"/>
          </a:xfrm>
          <a:prstGeom prst="roundRect">
            <a:avLst>
              <a:gd name="adj" fmla="val 8000"/>
            </a:avLst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0000" y="5160000"/>
            <a:ext cx="50000" cy="2895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0000" y="5200000"/>
            <a:ext cx="10732000" cy="2095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주의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테스트 점수를 보고 모델을 고치면, 그 순간 테스트는 "본 적 없는 데이터"가 아니게 됩니다. 설정은 검증(교차검증)으로, 테스트는 마지막에만!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668780" cy="25000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0" rIns="600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1 · 왜 평가하는가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과적합을 눈으로 — 트리를 깊게 팔수록 훈련만 오른다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와인 품종 데이터 · 결정트리 max_depth 1~15 (실습 7단계에서 직접 그린다)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3회차 · 지도학습 2 및 모델 평가</a:t>
            </a:r>
          </a:p>
        </p:txBody>
      </p:sp>
      <p:pic>
        <p:nvPicPr>
          <p:cNvPr id="8" name="Picture 7" descr="depth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1400000"/>
            <a:ext cx="6300000" cy="3683077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7060000" y="1400000"/>
            <a:ext cx="4572000" cy="36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060000" y="1400000"/>
            <a:ext cx="4572000" cy="70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40000" y="1570000"/>
            <a:ext cx="421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4F5BD5"/>
                </a:solidFill>
                <a:latin typeface="맑은 고딕"/>
                <a:ea typeface="맑은 고딕"/>
              </a:rPr>
              <a:t>그래프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40000" y="1920000"/>
            <a:ext cx="4212000" cy="30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깊이 1~2: 둘 다 낮음 →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과소적합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깊이 3: 테스트 0.981로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최고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깊이 4+: 훈련 1.000, 테스트 0.963 제자리 →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과적합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답: 테스트가 가장 높으면서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가장 단순한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깊이 3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점수가 같으면 단순한 쪽 (오컴의 면도날)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0000" y="5250000"/>
            <a:ext cx="11072000" cy="409550"/>
          </a:xfrm>
          <a:prstGeom prst="roundRect">
            <a:avLst>
              <a:gd name="adj" fmla="val 8000"/>
            </a:avLst>
          </a:prstGeom>
          <a:solidFill>
            <a:srgbClr val="EC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0000" y="5310000"/>
            <a:ext cx="50000" cy="28955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0000" y="5350000"/>
            <a:ext cx="10732000" cy="2095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깊이·k처럼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사람이 정하는 값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을 하이퍼파라미터라고 합니다. 좋은 값은 데이터마다 달라서 직접 시험해 봐야 합니다 (PART 3).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0000" y="1300000"/>
            <a:ext cx="4000000" cy="1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0" b="1" i="0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0000" y="3000000"/>
            <a:ext cx="800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000" y="3350000"/>
            <a:ext cx="90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FFFFFF"/>
                </a:solidFill>
                <a:latin typeface="맑은 고딕"/>
                <a:ea typeface="맑은 고딕"/>
              </a:rPr>
              <a:t>성능 지표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0000" y="4250000"/>
            <a:ext cx="9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F3F4F6"/>
                </a:solidFill>
                <a:latin typeface="맑은 고딕"/>
                <a:ea typeface="맑은 고딕"/>
              </a:rPr>
              <a:t>"몇 % 맞혔나"만으로는 모자라다 — 문제의 목적에 맞는 자를 고르자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0000" y="1500000"/>
            <a:ext cx="3700000" cy="17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00000" y="1630000"/>
            <a:ext cx="33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0E8C86"/>
                </a:solidFill>
                <a:latin typeface="맑은 고딕"/>
                <a:ea typeface="맑은 고딕"/>
              </a:rPr>
              <a:t>이 파트에서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000" y="192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0E8C86"/>
                </a:solidFill>
                <a:latin typeface="맑은 고딕"/>
                <a:ea typeface="맑은 고딕"/>
              </a:rPr>
              <a:t>1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정확도와 그 함정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0000" y="225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0E8C86"/>
                </a:solidFill>
                <a:latin typeface="맑은 고딕"/>
                <a:ea typeface="맑은 고딕"/>
              </a:rPr>
              <a:t>2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혼동행렬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258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0E8C86"/>
                </a:solidFill>
                <a:latin typeface="맑은 고딕"/>
                <a:ea typeface="맑은 고딕"/>
              </a:rPr>
              <a:t>3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정밀도 · 재현율 · F1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0000" y="291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0E8C86"/>
                </a:solidFill>
                <a:latin typeface="맑은 고딕"/>
                <a:ea typeface="맑은 고딕"/>
              </a:rPr>
              <a:t>4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회귀 지표 MAE · RMSE · R²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440180" cy="25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0" rIns="600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2 · 성능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정확도 95%인데 쓸모없는 모델이 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환자가 5%뿐인 데이터: "전부 정상"이라고만 답해도 정확도 95%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3회차 · 지도학습 2 및 모델 평가</a:t>
            </a:r>
          </a:p>
        </p:txBody>
      </p:sp>
      <p:pic>
        <p:nvPicPr>
          <p:cNvPr id="8" name="Picture 7" descr="im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1400000"/>
            <a:ext cx="6300000" cy="3489231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7060000" y="1400000"/>
            <a:ext cx="4572000" cy="3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060000" y="1400000"/>
            <a:ext cx="4572000" cy="7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40000" y="1570000"/>
            <a:ext cx="421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0E8C86"/>
                </a:solidFill>
                <a:latin typeface="맑은 고딕"/>
                <a:ea typeface="맑은 고딕"/>
              </a:rPr>
              <a:t>정확도의 함정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40000" y="1920000"/>
            <a:ext cx="4212000" cy="2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정확도 = 맞힌 개수 ÷ 전체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정답이 한쪽으로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쏠린(불균형)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데이터에서는 속는다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"전부 정상" 모델: 정확도 95%, 환자 발견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0명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병 진단·사기 탐지·불량 검출이 모두 이런 데이터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→ 다른 자(지표)가 필요하다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0000" y="5000000"/>
            <a:ext cx="11072000" cy="400025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0000" y="5060000"/>
            <a:ext cx="50000" cy="28002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0000" y="5100000"/>
            <a:ext cx="10732000" cy="200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실습 6단계에서 </a:t>
            </a:r>
            <a:r>
              <a:rPr sz="1050" b="0" i="0">
                <a:solidFill>
                  <a:srgbClr val="1F4E79"/>
                </a:solidFill>
                <a:latin typeface="맑은 고딕"/>
                <a:ea typeface="맑은 고딕"/>
              </a:rPr>
              <a:t>DummyClassifier(strategy="most_frequent")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로 이 "전부 정상" 모델을 직접 만들어 비교합니다.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440180" cy="25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0" rIns="600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2 · 성능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혼동행렬 — 어디서, 어떻게 틀렸는지 보인다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행 = 실제, 열 = 예측. 대각선이 정답, 대각선 밖이 실수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3회차 · 지도학습 2 및 모델 평가</a:t>
            </a:r>
          </a:p>
        </p:txBody>
      </p:sp>
      <p:pic>
        <p:nvPicPr>
          <p:cNvPr id="8" name="Picture 7" descr="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1400000"/>
            <a:ext cx="4600000" cy="3892308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10000" y="1400000"/>
          <a:ext cx="6222000" cy="1650000"/>
        </p:xfrm>
        <a:graphic>
          <a:graphicData uri="http://schemas.openxmlformats.org/drawingml/2006/table">
            <a:tbl>
              <a:tblPr/>
              <a:tblGrid>
                <a:gridCol w="1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칸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뜻 (스팸 필터 예)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TP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스팸을 스팸이라 함 (정답)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TN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정상을 정상이라 함 (정답)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FP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정상을 스팸이라 함 — </a:t>
                      </a:r>
                      <a:r>
                        <a:rPr sz="11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헛경보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FN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스팸을 정상이라 함 — </a:t>
                      </a:r>
                      <a:r>
                        <a:rPr sz="11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놓침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10000" y="3350000"/>
            <a:ext cx="6222000" cy="619100"/>
          </a:xfrm>
          <a:prstGeom prst="roundRect">
            <a:avLst>
              <a:gd name="adj" fmla="val 8000"/>
            </a:avLst>
          </a:prstGeom>
          <a:solidFill>
            <a:srgbClr val="E3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10000" y="3410000"/>
            <a:ext cx="50000" cy="4991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10000" y="3450000"/>
            <a:ext cx="5882000" cy="419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정확도 = (TP + TN) ÷ 전체 = (42 + 45) ÷ 100 = 0.87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실수의 종류(FP vs FN)에 따라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피해가 다르다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는 것이 핵심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10000" y="4550000"/>
            <a:ext cx="6222000" cy="848168"/>
          </a:xfrm>
          <a:prstGeom prst="roundRect">
            <a:avLst>
              <a:gd name="adj" fmla="val 5000"/>
            </a:avLst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550000" y="4640000"/>
            <a:ext cx="573024" cy="20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0" rIns="6000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</a:rPr>
              <a:t>실습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000" y="4910000"/>
            <a:ext cx="5902000" cy="428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E5E7EB"/>
                </a:solidFill>
                <a:latin typeface="Consolas"/>
                <a:ea typeface="Consolas"/>
              </a:rPr>
              <a:t>from sklearn.metrics import confusion_matrix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E5E7EB"/>
                </a:solidFill>
                <a:latin typeface="Consolas"/>
                <a:ea typeface="Consolas"/>
              </a:rPr>
              <a:t>confusion_matrix(y_test, y_pred)   </a:t>
            </a:r>
            <a:r>
              <a:rPr sz="950" b="0" i="0">
                <a:solidFill>
                  <a:srgbClr val="86EFAC"/>
                </a:solidFill>
                <a:latin typeface="Consolas"/>
                <a:ea typeface="Consolas"/>
              </a:rPr>
              <a:t># 행=실제, 열=예측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440180" cy="25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0" rIns="600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2 · 성능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정밀도와 재현율 — 헛경보가 싫은가, 놓침이 싫은가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두 지표는 시소: 한쪽을 올리면 다른 쪽이 내려간다 → 문제의 목적이 결정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3회차 · 지도학습 2 및 모델 평가</a:t>
            </a:r>
          </a:p>
        </p:txBody>
      </p:sp>
      <p:pic>
        <p:nvPicPr>
          <p:cNvPr id="8" name="Picture 7" descr="prec_re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1400000"/>
            <a:ext cx="6600000" cy="297000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60000" y="1400000"/>
          <a:ext cx="4272000" cy="1533460"/>
        </p:xfrm>
        <a:graphic>
          <a:graphicData uri="http://schemas.openxmlformats.org/drawingml/2006/table">
            <a:tbl>
              <a:tblPr/>
              <a:tblGrid>
                <a:gridCol w="1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692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상황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중요한 지표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69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병 진단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재현율 (놓치면 큰일)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69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스팸 필터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정밀도 (정상 메일 잃으면 곤란)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69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화재 감지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재현율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69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유튜브 추천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정밀도 (엉뚱한 추천 싫음)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60000" y="4600000"/>
            <a:ext cx="11072000" cy="409550"/>
          </a:xfrm>
          <a:prstGeom prst="roundRect">
            <a:avLst>
              <a:gd name="adj" fmla="val 8000"/>
            </a:avLst>
          </a:prstGeom>
          <a:solidFill>
            <a:srgbClr val="E3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0000" y="4660000"/>
            <a:ext cx="50000" cy="28955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0000" y="4700000"/>
            <a:ext cx="10732000" cy="2095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F1 점수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= 정밀도와 재현율의 조화 평균. 둘 다 중요하거나 데이터가 불균형할 때 정확도 대신 씁니다. </a:t>
            </a:r>
            <a:r>
              <a:rPr sz="1100" b="0" i="0">
                <a:solidFill>
                  <a:srgbClr val="1F4E79"/>
                </a:solidFill>
                <a:latin typeface="맑은 고딕"/>
                <a:ea typeface="맑은 고딕"/>
              </a:rPr>
              <a:t>classification_report()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한 줄이면 품종별 정밀도·재현율·F1이 다 나옵니다.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440180" cy="25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0" rIns="600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2 · 성능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회귀는 "얼마나 빗나갔나"를 잰다 — MAE · RMSE · R²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숫자를 맞히는 문제에는 맞다/틀리다가 없다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3회차 · 지도학습 2 및 모델 평가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5400000" cy="143346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0000" y="1400000"/>
            <a:ext cx="50000" cy="143346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0000" y="1500000"/>
            <a:ext cx="510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0E8C86"/>
                </a:solidFill>
                <a:latin typeface="맑은 고딕"/>
                <a:ea typeface="맑은 고딕"/>
              </a:rPr>
              <a:t>세 가지 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000" y="1720000"/>
            <a:ext cx="5100000" cy="1233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 i="0">
                <a:solidFill>
                  <a:srgbClr val="1F2937"/>
                </a:solidFill>
                <a:latin typeface="Cambria Math"/>
                <a:ea typeface="맑은 고딕"/>
              </a:rPr>
              <a:t>MAE = 평균( |실제 − 예측| )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 i="0">
                <a:solidFill>
                  <a:srgbClr val="1F2937"/>
                </a:solidFill>
                <a:latin typeface="Cambria Math"/>
                <a:ea typeface="맑은 고딕"/>
              </a:rPr>
              <a:t>RMSE = √ 평균( (실제 − 예측)² )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 i="0">
                <a:solidFill>
                  <a:srgbClr val="1F2937"/>
                </a:solidFill>
                <a:latin typeface="Cambria Math"/>
                <a:ea typeface="맑은 고딕"/>
              </a:rPr>
              <a:t>R² = 1 − 모델 오차 ÷ "평균으로 찍은" 오차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32000" y="1400000"/>
          <a:ext cx="5400000" cy="1320000"/>
        </p:xfrm>
        <a:graphic>
          <a:graphicData uri="http://schemas.openxmlformats.org/drawingml/2006/table">
            <a:tbl>
              <a:tblPr/>
              <a:tblGrid>
                <a:gridCol w="1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지표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읽는 법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MAE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"평균 5.5점 틀린다" — 단위 그대로, 직관적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RMSE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큰 오차를 더 무겁게 벌줌 · 항상 MAE 이상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R²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 = 완벽, 0 = 평균으로 찍은 수준, 음수 = 평균보다 못함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60000" y="3750000"/>
          <a:ext cx="7400000" cy="1226768"/>
        </p:xfrm>
        <a:graphic>
          <a:graphicData uri="http://schemas.openxmlformats.org/drawingml/2006/table">
            <a:tbl>
              <a:tblPr/>
              <a:tblGrid>
                <a:gridCol w="3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6692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공부시간·수면 → 성적 (실습 12단계)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MAE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RMSE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R²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692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선형회귀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5.53점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7.46점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0.747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692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결정트리 회귀 (깊이 제한 없음)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7.65점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9.83점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0.561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692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결정트리 회귀 (깊이 3)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5.86점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7.60점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0.738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8160000" y="3750000"/>
            <a:ext cx="3472000" cy="600050"/>
          </a:xfrm>
          <a:prstGeom prst="roundRect">
            <a:avLst>
              <a:gd name="adj" fmla="val 8000"/>
            </a:avLst>
          </a:prstGeom>
          <a:solidFill>
            <a:srgbClr val="E3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60000" y="3810000"/>
            <a:ext cx="50000" cy="48005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0000" y="3850000"/>
            <a:ext cx="3132000" cy="400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깊이 제한 없는 트리는 회귀에서도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과적합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 → 오차가 커진다. 분류든 회귀든 원리는 같다.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0000" y="1300000"/>
            <a:ext cx="4000000" cy="1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0" b="1" i="0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0000" y="3000000"/>
            <a:ext cx="800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000" y="3350000"/>
            <a:ext cx="90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FFFFFF"/>
                </a:solidFill>
                <a:latin typeface="맑은 고딕"/>
                <a:ea typeface="맑은 고딕"/>
              </a:rPr>
              <a:t>개선하기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0000" y="4250000"/>
            <a:ext cx="9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F3F4F6"/>
                </a:solidFill>
                <a:latin typeface="맑은 고딕"/>
                <a:ea typeface="맑은 고딕"/>
              </a:rPr>
              <a:t>점수를 올리는 세 가지 도구 — 교차검증 · 하이퍼파라미터 튜닝 · 스케일링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0000" y="1500000"/>
            <a:ext cx="3700000" cy="17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00000" y="1630000"/>
            <a:ext cx="33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D97706"/>
                </a:solidFill>
                <a:latin typeface="맑은 고딕"/>
                <a:ea typeface="맑은 고딕"/>
              </a:rPr>
              <a:t>이 파트에서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000" y="192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1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교차검증: 한 번 나누기의 운 없애기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0000" y="225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2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하이퍼파라미터 튜닝: GridSearchCV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258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3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스케일링: kNN이 약했던 진짜 이유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0000" y="291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4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개선 전 → 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369314" cy="2500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0" rIns="600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3 · 개선하기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교차검증 — 한 번 나누기의 "운"을 없앤다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훈련 데이터를 5조각으로 나눠 5번 시험하고 평균 (테스트 데이터는 아직 안 쓴다)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3회차 · 지도학습 2 및 모델 평가</a:t>
            </a:r>
          </a:p>
        </p:txBody>
      </p:sp>
      <p:pic>
        <p:nvPicPr>
          <p:cNvPr id="8" name="Picture 7" descr="cv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1400000"/>
            <a:ext cx="6600000" cy="280500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7360000" y="1400000"/>
            <a:ext cx="4272000" cy="28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60000" y="1400000"/>
            <a:ext cx="4272000" cy="7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40000" y="1570000"/>
            <a:ext cx="391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D97706"/>
                </a:solidFill>
                <a:latin typeface="맑은 고딕"/>
                <a:ea typeface="맑은 고딕"/>
              </a:rPr>
              <a:t>왜 필요한가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0000" y="1920000"/>
            <a:ext cx="3912000" cy="2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어떤 데이터가 테스트에 들어가느냐에 따라 점수가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오르내림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5개 점수의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평균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은 운이 덜 섞인 실력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5개 점수의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편차(±)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는 안정성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설정(k·깊이)을 고를 때 쓰는 "모의고사"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0000" y="4350000"/>
            <a:ext cx="11072000" cy="1038160"/>
          </a:xfrm>
          <a:prstGeom prst="roundRect">
            <a:avLst>
              <a:gd name="adj" fmla="val 5000"/>
            </a:avLst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00000" y="4440000"/>
            <a:ext cx="573024" cy="20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0" rIns="6000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</a:rPr>
              <a:t>실습 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024" y="4420000"/>
            <a:ext cx="10138976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한 줄이면 된다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4710000"/>
            <a:ext cx="10752000" cy="6181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from sklearn.model_selection import cross_val_score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scores = cross_val_score(model, X_train, y_train, cv=5)     </a:t>
            </a:r>
            <a:r>
              <a:rPr sz="1000" b="0" i="0">
                <a:solidFill>
                  <a:srgbClr val="86EFAC"/>
                </a:solidFill>
                <a:latin typeface="Consolas"/>
                <a:ea typeface="Consolas"/>
              </a:rPr>
              <a:t># 5번 시험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print(scores.round(3), scores.mean().round(3))             </a:t>
            </a:r>
            <a:r>
              <a:rPr sz="1000" b="0" i="0">
                <a:solidFill>
                  <a:srgbClr val="86EFAC"/>
                </a:solidFill>
                <a:latin typeface="Consolas"/>
                <a:ea typeface="Consolas"/>
              </a:rPr>
              <a:t># 예: [0.92 0.96 1. 1. 0.917] 0.959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369314" cy="2500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0" rIns="600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3 · 개선하기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하이퍼파라미터 튜닝 — 후보를 전부 시험해 본다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GridSearchCV = 후보 값 × 교차검증을 자동으로 돌려 가장 좋은 설정을 고른다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3회차 · 지도학습 2 및 모델 평가</a:t>
            </a:r>
          </a:p>
        </p:txBody>
      </p:sp>
      <p:pic>
        <p:nvPicPr>
          <p:cNvPr id="8" name="Picture 7" descr="knn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1400000"/>
            <a:ext cx="5800000" cy="3212308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60000" y="4652308"/>
            <a:ext cx="580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kNN의 k를 1~25까지 바꾼 5-fold 교차검증 점수 — 이 데이터에서는 k=12가 최고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60000" y="1400000"/>
            <a:ext cx="5072000" cy="1763584"/>
          </a:xfrm>
          <a:prstGeom prst="roundRect">
            <a:avLst>
              <a:gd name="adj" fmla="val 5000"/>
            </a:avLst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700000" y="1490000"/>
            <a:ext cx="636016" cy="20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0" rIns="6000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</a:rPr>
              <a:t>실습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000" y="1760000"/>
            <a:ext cx="4752000" cy="13435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E5E7EB"/>
                </a:solidFill>
                <a:latin typeface="Consolas"/>
                <a:ea typeface="Consolas"/>
              </a:rPr>
              <a:t>from sklearn.model_selection import GridSearchCV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E5E7EB"/>
                </a:solidFill>
                <a:latin typeface="Consolas"/>
                <a:ea typeface="Consolas"/>
              </a:rPr>
              <a:t>grid = GridSearchCV(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E5E7EB"/>
                </a:solidFill>
                <a:latin typeface="Consolas"/>
                <a:ea typeface="Consolas"/>
              </a:rPr>
              <a:t>    make_pipeline(StandardScaler(), KNeighborsClassifier()),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E5E7EB"/>
                </a:solidFill>
                <a:latin typeface="Consolas"/>
                <a:ea typeface="Consolas"/>
              </a:rPr>
              <a:t>    param_grid={'kneighborsclassifier__n_neighbors': range(1, 26)},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E5E7EB"/>
                </a:solidFill>
                <a:latin typeface="Consolas"/>
                <a:ea typeface="Consolas"/>
              </a:rPr>
              <a:t>    cv=5)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E5E7EB"/>
                </a:solidFill>
                <a:latin typeface="Consolas"/>
                <a:ea typeface="Consolas"/>
              </a:rPr>
              <a:t>grid.fit(X_train, y_train)      </a:t>
            </a:r>
            <a:r>
              <a:rPr sz="900" b="0" i="0">
                <a:solidFill>
                  <a:srgbClr val="86EFAC"/>
                </a:solidFill>
                <a:latin typeface="Consolas"/>
                <a:ea typeface="Consolas"/>
              </a:rPr>
              <a:t># 25개 후보 × 5번 = 125번 학습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E5E7EB"/>
                </a:solidFill>
                <a:latin typeface="Consolas"/>
                <a:ea typeface="Consolas"/>
              </a:rPr>
              <a:t>grid.best_params_               </a:t>
            </a:r>
            <a:r>
              <a:rPr sz="900" b="0" i="0">
                <a:solidFill>
                  <a:srgbClr val="86EFAC"/>
                </a:solidFill>
                <a:latin typeface="Consolas"/>
                <a:ea typeface="Consolas"/>
              </a:rPr>
              <a:t># → k = 12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E5E7EB"/>
                </a:solidFill>
                <a:latin typeface="Consolas"/>
                <a:ea typeface="Consolas"/>
              </a:rPr>
              <a:t>grid.best_estimator_            </a:t>
            </a:r>
            <a:r>
              <a:rPr sz="900" b="0" i="0">
                <a:solidFill>
                  <a:srgbClr val="86EFAC"/>
                </a:solidFill>
                <a:latin typeface="Consolas"/>
                <a:ea typeface="Consolas"/>
              </a:rPr>
              <a:t># 최적 설정으로 다시 학습한 모델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60000" y="5100000"/>
          <a:ext cx="11072000" cy="1187400"/>
        </p:xfrm>
        <a:graphic>
          <a:graphicData uri="http://schemas.openxmlformats.org/drawingml/2006/table">
            <a:tbl>
              <a:tblPr/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6850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모델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하이퍼파라미터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작을수록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클수록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85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kNN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k (이웃 수)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복잡 (과적합 쪽)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단순 (과소적합 쪽)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85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결정트리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max_depth (깊이)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단순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복잡 (외움)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85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로지스틱 회귀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C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단순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복잡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369314" cy="2500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0" rIns="600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3 · 개선하기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kNN이 약했던 진짜 이유 — 열마다 숫자 크기가 다르다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스케일링(StandardScaler) 하나로 kNN 테스트 정확도 0.722 → 0.944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3회차 · 지도학습 2 및 모델 평가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0000" y="1400000"/>
          <a:ext cx="5400000" cy="949605"/>
        </p:xfrm>
        <a:graphic>
          <a:graphicData uri="http://schemas.openxmlformats.org/drawingml/2006/table">
            <a:tbl>
              <a:tblPr/>
              <a:tblGrid>
                <a:gridCol w="1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6535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와인 데이터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alcohol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hue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proline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535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평균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13.0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0.96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747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535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최댓값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14.8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1.71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1680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0000" y="2550000"/>
            <a:ext cx="5400000" cy="619100"/>
          </a:xfrm>
          <a:prstGeom prst="roundRect">
            <a:avLst>
              <a:gd name="adj" fmla="val 8000"/>
            </a:avLst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0000" y="2610000"/>
            <a:ext cx="50000" cy="499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0000" y="2650000"/>
            <a:ext cx="5060000" cy="419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kNN은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거리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로 이웃을 찾는다. proline 차이가 수백이면 hue 차이 0.5는 있으나 마나 → 거리가 큰 열에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독점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된다.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2000" y="1400000"/>
            <a:ext cx="5400000" cy="2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2000" y="1400000"/>
            <a:ext cx="5400000" cy="7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2000" y="15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D97706"/>
                </a:solidFill>
                <a:latin typeface="맑은 고딕"/>
                <a:ea typeface="맑은 고딕"/>
              </a:rPr>
              <a:t>StandardScaler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2000" y="1920000"/>
            <a:ext cx="5040000" cy="1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모든 열을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평균 0, 표준편차 1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로 맞춤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050" b="0" i="0">
                <a:solidFill>
                  <a:srgbClr val="1F4E79"/>
                </a:solidFill>
                <a:latin typeface="맑은 고딕"/>
                <a:ea typeface="맑은 고딕"/>
              </a:rPr>
              <a:t>make_pipeline(StandardScaler(), 모델)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로 한 덩어리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훈련에서 배운 평균·표준편차를 테스트에 그대로 적용 (정보 유출 방지)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거리·기울기를 쓰는 kNN·로지스틱·선형회귀에 효과 / 결정트리는 불필요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0000" y="4050000"/>
            <a:ext cx="11072000" cy="1210880"/>
          </a:xfrm>
          <a:prstGeom prst="roundRect">
            <a:avLst>
              <a:gd name="adj" fmla="val 5000"/>
            </a:avLst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00000" y="4140000"/>
            <a:ext cx="573024" cy="20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0" rIns="6000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</a:rPr>
              <a:t>실습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024" y="4120000"/>
            <a:ext cx="10138976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전처리만으로 22%p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4410000"/>
            <a:ext cx="10752000" cy="790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from sklearn.preprocessing import StandardScaler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from sklearn.pipeline import make_pipeline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knn_scaled = make_pipeline(StandardScaler(), KNeighborsClassifier(n_neighbors=5)).fit(X_train, y_train)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knn_scaled.score(X_test, y_test)     </a:t>
            </a:r>
            <a:r>
              <a:rPr sz="1000" b="0" i="0">
                <a:solidFill>
                  <a:srgbClr val="86EFAC"/>
                </a:solidFill>
                <a:latin typeface="Consolas"/>
                <a:ea typeface="Consolas"/>
              </a:rPr>
              <a:t># 0.722 → 0.944  (모델은 그대로, 전처리만 바꿈)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369314" cy="2500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0" rIns="600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3 · 개선하기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개선 전 → 후 — 실습에서 만들 최종 비교표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와인 품종 분류 · 테스트 데이터 54병 · 실제 실행 결과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3회차 · 지도학습 2 및 모델 평가</a:t>
            </a:r>
          </a:p>
        </p:txBody>
      </p:sp>
      <p:pic>
        <p:nvPicPr>
          <p:cNvPr id="8" name="Picture 7" descr="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1400000"/>
            <a:ext cx="6000000" cy="3166667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760000" y="1400000"/>
          <a:ext cx="4872000" cy="1226768"/>
        </p:xfrm>
        <a:graphic>
          <a:graphicData uri="http://schemas.openxmlformats.org/drawingml/2006/table">
            <a:tbl>
              <a:tblPr/>
              <a:tblGrid>
                <a:gridCol w="2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692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모델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69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kNN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0.722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0.963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69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결정트리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0.963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0.963 (깊이 3)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69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로지스틱 회귀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0.963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0.981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760000" y="2900000"/>
            <a:ext cx="4872000" cy="7715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60000" y="2960000"/>
            <a:ext cx="50000" cy="6515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60000" y="3000000"/>
            <a:ext cx="4532000" cy="571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kNN: 스케일링 + k=12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결정트리: 깊이 3·잎 4 (점수 같음, 더 단순)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로지스틱: 스케일링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0000" y="4900000"/>
            <a:ext cx="2166400" cy="420000"/>
          </a:xfrm>
          <a:prstGeom prst="roundRect">
            <a:avLst>
              <a:gd name="adj" fmla="val 15000"/>
            </a:avLst>
          </a:prstGeom>
          <a:solidFill>
            <a:srgbClr val="FDF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0000" y="4930000"/>
            <a:ext cx="2166400" cy="3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D97706"/>
                </a:solidFill>
                <a:latin typeface="맑은 고딕"/>
                <a:ea typeface="맑은 고딕"/>
              </a:rPr>
              <a:t>1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F2937"/>
                </a:solidFill>
                <a:latin typeface="맑은 고딕"/>
                <a:ea typeface="맑은 고딕"/>
              </a:rPr>
              <a:t>같은 조건으로 비교표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6400" y="4900000"/>
            <a:ext cx="2166400" cy="420000"/>
          </a:xfrm>
          <a:prstGeom prst="roundRect">
            <a:avLst>
              <a:gd name="adj" fmla="val 15000"/>
            </a:avLst>
          </a:prstGeom>
          <a:solidFill>
            <a:srgbClr val="FDF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86400" y="4930000"/>
            <a:ext cx="2166400" cy="3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D97706"/>
                </a:solidFill>
                <a:latin typeface="맑은 고딕"/>
                <a:ea typeface="맑은 고딕"/>
              </a:rPr>
              <a:t>2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F2937"/>
                </a:solidFill>
                <a:latin typeface="맑은 고딕"/>
                <a:ea typeface="맑은 고딕"/>
              </a:rPr>
              <a:t>목적에 맞는 지표 읽기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12800" y="4900000"/>
            <a:ext cx="2166400" cy="420000"/>
          </a:xfrm>
          <a:prstGeom prst="roundRect">
            <a:avLst>
              <a:gd name="adj" fmla="val 15000"/>
            </a:avLst>
          </a:prstGeom>
          <a:solidFill>
            <a:srgbClr val="FDF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12800" y="4930000"/>
            <a:ext cx="2166400" cy="3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D97706"/>
                </a:solidFill>
                <a:latin typeface="맑은 고딕"/>
                <a:ea typeface="맑은 고딕"/>
              </a:rPr>
              <a:t>3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F2937"/>
                </a:solidFill>
                <a:latin typeface="맑은 고딕"/>
                <a:ea typeface="맑은 고딕"/>
              </a:rPr>
              <a:t>과적합/과소적합 진단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39200" y="4900000"/>
            <a:ext cx="2166400" cy="420000"/>
          </a:xfrm>
          <a:prstGeom prst="roundRect">
            <a:avLst>
              <a:gd name="adj" fmla="val 15000"/>
            </a:avLst>
          </a:prstGeom>
          <a:solidFill>
            <a:srgbClr val="FDF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39200" y="4930000"/>
            <a:ext cx="2166400" cy="3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D97706"/>
                </a:solidFill>
                <a:latin typeface="맑은 고딕"/>
                <a:ea typeface="맑은 고딕"/>
              </a:rPr>
              <a:t>4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F2937"/>
                </a:solidFill>
                <a:latin typeface="맑은 고딕"/>
                <a:ea typeface="맑은 고딕"/>
              </a:rPr>
              <a:t>튜닝 · 전처리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65600" y="4900000"/>
            <a:ext cx="2166400" cy="420000"/>
          </a:xfrm>
          <a:prstGeom prst="roundRect">
            <a:avLst>
              <a:gd name="adj" fmla="val 15000"/>
            </a:avLst>
          </a:prstGeom>
          <a:solidFill>
            <a:srgbClr val="FDF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65600" y="4930000"/>
            <a:ext cx="2166400" cy="3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D97706"/>
                </a:solidFill>
                <a:latin typeface="맑은 고딕"/>
                <a:ea typeface="맑은 고딕"/>
              </a:rPr>
              <a:t>5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F2937"/>
                </a:solidFill>
                <a:latin typeface="맑은 고딕"/>
                <a:ea typeface="맑은 고딕"/>
              </a:rPr>
              <a:t>테스트로 최종 확인 → 근거 쓰기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0000" y="1300000"/>
            <a:ext cx="4000000" cy="1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0" b="1" i="0">
                <a:solidFill>
                  <a:srgbClr val="FFFF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0000" y="3000000"/>
            <a:ext cx="800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000" y="3350000"/>
            <a:ext cx="90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FFFFFF"/>
                </a:solidFill>
                <a:latin typeface="맑은 고딕"/>
                <a:ea typeface="맑은 고딕"/>
              </a:rPr>
              <a:t>Colab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0000" y="4250000"/>
            <a:ext cx="9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F3F4F6"/>
                </a:solidFill>
                <a:latin typeface="맑은 고딕"/>
                <a:ea typeface="맑은 고딕"/>
              </a:rPr>
              <a:t>모델 비교표 → 지표 읽기 → 과적합 실험 → 튜닝 → 개선 전후 비교 → 결정 근거 쓰기 (60분)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0000" y="1500000"/>
            <a:ext cx="3700000" cy="17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00000" y="1630000"/>
            <a:ext cx="33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C0395F"/>
                </a:solidFill>
                <a:latin typeface="맑은 고딕"/>
                <a:ea typeface="맑은 고딕"/>
              </a:rPr>
              <a:t>이 파트에서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000" y="192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C0395F"/>
                </a:solidFill>
                <a:latin typeface="맑은 고딕"/>
                <a:ea typeface="맑은 고딕"/>
              </a:rPr>
              <a:t>1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노트북 열기 · 순서대로 실행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0000" y="225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C0395F"/>
                </a:solidFill>
                <a:latin typeface="맑은 고딕"/>
                <a:ea typeface="맑은 고딕"/>
              </a:rPr>
              <a:t>2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셀 1~6: 비교표 · 혼동행렬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258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C0395F"/>
                </a:solidFill>
                <a:latin typeface="맑은 고딕"/>
                <a:ea typeface="맑은 고딕"/>
              </a:rPr>
              <a:t>3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셀 7~12: 진단 · 튜닝 · 회귀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0000" y="291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C0395F"/>
                </a:solidFill>
                <a:latin typeface="맑은 고딕"/>
                <a:ea typeface="맑은 고딕"/>
              </a:rPr>
              <a:t>4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직접 해보기 · 결과물 제출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65910" cy="250000"/>
          </a:xfrm>
          <a:prstGeom prst="roundRect">
            <a:avLst>
              <a:gd name="adj" fmla="val 50000"/>
            </a:avLst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0" rIns="600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4 · Colab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실습 시작 — Colab에 노트북 올리고 순서대로 실행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오류가 나면 "런타임 → 런타임 다시 시작" 후 처음부터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3회차 · 지도학습 2 및 모델 평가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2723000" cy="420000"/>
          </a:xfrm>
          <a:prstGeom prst="roundRect">
            <a:avLst>
              <a:gd name="adj" fmla="val 15000"/>
            </a:avLst>
          </a:prstGeom>
          <a:solidFill>
            <a:srgbClr val="FA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0000" y="1430000"/>
            <a:ext cx="2723000" cy="3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C0395F"/>
                </a:solidFill>
                <a:latin typeface="맑은 고딕"/>
                <a:ea typeface="맑은 고딕"/>
              </a:rPr>
              <a:t>1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colab.research.google.com 접속 (구글 로그인)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3000" y="1400000"/>
            <a:ext cx="2723000" cy="420000"/>
          </a:xfrm>
          <a:prstGeom prst="roundRect">
            <a:avLst>
              <a:gd name="adj" fmla="val 15000"/>
            </a:avLst>
          </a:prstGeom>
          <a:solidFill>
            <a:srgbClr val="FA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43000" y="1430000"/>
            <a:ext cx="2723000" cy="3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C0395F"/>
                </a:solidFill>
                <a:latin typeface="맑은 고딕"/>
                <a:ea typeface="맑은 고딕"/>
              </a:rPr>
              <a:t>2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파일 → 노트 업로드 → 03_..._colab.ipynb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000" y="1400000"/>
            <a:ext cx="2723000" cy="420000"/>
          </a:xfrm>
          <a:prstGeom prst="roundRect">
            <a:avLst>
              <a:gd name="adj" fmla="val 15000"/>
            </a:avLst>
          </a:prstGeom>
          <a:solidFill>
            <a:srgbClr val="FA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000" y="1430000"/>
            <a:ext cx="2723000" cy="3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C0395F"/>
                </a:solidFill>
                <a:latin typeface="맑은 고딕"/>
                <a:ea typeface="맑은 고딕"/>
              </a:rPr>
              <a:t>3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셀 클릭 → Shift+Enter (위에서부터)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9000" y="1400000"/>
            <a:ext cx="2723000" cy="420000"/>
          </a:xfrm>
          <a:prstGeom prst="roundRect">
            <a:avLst>
              <a:gd name="adj" fmla="val 15000"/>
            </a:avLst>
          </a:prstGeom>
          <a:solidFill>
            <a:srgbClr val="FA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09000" y="1430000"/>
            <a:ext cx="2723000" cy="3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C0395F"/>
                </a:solidFill>
                <a:latin typeface="맑은 고딕"/>
                <a:ea typeface="맑은 고딕"/>
              </a:rPr>
              <a:t>4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셀 1에서 "준비 완료!" 확인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0000" y="2100000"/>
            <a:ext cx="5400000" cy="2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60000" y="2100000"/>
            <a:ext cx="5400000" cy="70000"/>
          </a:xfrm>
          <a:prstGeom prst="rect">
            <a:avLst/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0000" y="22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C0395F"/>
                </a:solidFill>
                <a:latin typeface="맑은 고딕"/>
                <a:ea typeface="맑은 고딕"/>
              </a:rPr>
              <a:t>실습 규칙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000" y="2620000"/>
            <a:ext cx="5040000" cy="2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C0395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셀은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위에서부터 순서대로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— 건너뛰면 변수가 없다는 오류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C0395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출력의 숫자를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읽고 옆 사람과 말로 설명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해 보기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C0395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🧩 직접 해보기는 정답을 보기 전에 시도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C0395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막히면 HTML 수업자료의 "막혔을 때"를 먼저 확인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2000" y="2100000"/>
            <a:ext cx="5400000" cy="2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32000" y="2100000"/>
            <a:ext cx="5400000" cy="70000"/>
          </a:xfrm>
          <a:prstGeom prst="rect">
            <a:avLst/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12000" y="22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C0395F"/>
                </a:solidFill>
                <a:latin typeface="맑은 고딕"/>
                <a:ea typeface="맑은 고딕"/>
              </a:rPr>
              <a:t>자주 나는 오류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2000" y="2620000"/>
            <a:ext cx="5040000" cy="2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C0395F"/>
              </a:buClr>
              <a:buFont typeface="Arial"/>
              <a:buChar char="•"/>
            </a:pPr>
            <a:r>
              <a:rPr sz="1100" b="0" i="0">
                <a:solidFill>
                  <a:srgbClr val="1F4E79"/>
                </a:solidFill>
                <a:latin typeface="맑은 고딕"/>
                <a:ea typeface="맑은 고딕"/>
              </a:rPr>
              <a:t>NameError: X_train is not defined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→ 위 셀을 안 돌림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C0395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그래프 한글이 □□ → 런타임 다시 시작 후 셀 1부터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C0395F"/>
              </a:buClr>
              <a:buFont typeface="Arial"/>
              <a:buChar char="•"/>
            </a:pPr>
            <a:r>
              <a:rPr sz="1100" b="0" i="0">
                <a:solidFill>
                  <a:srgbClr val="1F4E79"/>
                </a:solidFill>
                <a:latin typeface="맑은 고딕"/>
                <a:ea typeface="맑은 고딕"/>
              </a:rPr>
              <a:t>Invalid parameter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→ 옵션 이름 오타 (밑줄 2개 </a:t>
            </a:r>
            <a:r>
              <a:rPr sz="1100" b="0" i="0">
                <a:solidFill>
                  <a:srgbClr val="1F4E79"/>
                </a:solidFill>
                <a:latin typeface="맑은 고딕"/>
                <a:ea typeface="맑은 고딕"/>
              </a:rPr>
              <a:t>__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C0395F"/>
              </a:buClr>
              <a:buFont typeface="Arial"/>
              <a:buChar char="•"/>
            </a:pPr>
            <a:r>
              <a:rPr sz="1100" b="0" i="0">
                <a:solidFill>
                  <a:srgbClr val="1F4E79"/>
                </a:solidFill>
                <a:latin typeface="맑은 고딕"/>
                <a:ea typeface="맑은 고딕"/>
              </a:rPr>
              <a:t>SyntaxError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→ 따옴표·괄호 짝 확인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0000" y="5200000"/>
            <a:ext cx="11072000" cy="400025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60000" y="5260000"/>
            <a:ext cx="50000" cy="28002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0000" y="5300000"/>
            <a:ext cx="10732000" cy="200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데이터는 scikit-learn 내장 와인 데이터(178병·13성분·품종 3종). 인터넷 다운로드나 파일 업로드가 필요 없습니다.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65910" cy="250000"/>
          </a:xfrm>
          <a:prstGeom prst="roundRect">
            <a:avLst>
              <a:gd name="adj" fmla="val 50000"/>
            </a:avLst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0" rIns="600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4 · Colab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실습 단계표 — 셀마다 "무엇을 확인하는가"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셀 1~6 (25분): 나누기 · 비교표 · 혼동행렬 · 정확도의 함정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3회차 · 지도학습 2 및 모델 평가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0000" y="1400000"/>
          <a:ext cx="11072000" cy="2660000"/>
        </p:xfrm>
        <a:graphic>
          <a:graphicData uri="http://schemas.openxmlformats.org/drawingml/2006/table">
            <a:tbl>
              <a:tblPr/>
              <a:tblGrid>
                <a:gridCol w="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C039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C039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확인할 것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C039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도구 불러오기 · 한글 폰트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"준비 완료!" 출력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와인 데이터 불러오기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(178, 13) · 품종별 59/71/48 → 거의 균형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훈련/테스트 나누기 (70:30, stratify)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훈련 124병 / 테스트 54병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kNN·결정트리·로지스틱 비교표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결정트리 훈련 1.000 vs 테스트 0.963 → 외운 흔적 / kNN 0.722 왜 낮을까?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혼동행렬 · classification_report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대각선 17·20·15 = 정답 / 품종0 1병을 품종1로 착각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"전부 정상" 더미 모델 vs 진짜 모델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정확도 0.957 vs 0.983 비슷 / 재현율 0.000 vs 0.615 하늘과 땅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65910" cy="250000"/>
          </a:xfrm>
          <a:prstGeom prst="roundRect">
            <a:avLst>
              <a:gd name="adj" fmla="val 50000"/>
            </a:avLst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0" rIns="600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4 · Colab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실습 단계표 — 진단하고 개선하기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셀 7~12 (25분): 과적합 실험 · 스케일링 · 교차검증 · GridSearchCV · 전후 비교 · 회귀 지표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3회차 · 지도학습 2 및 모델 평가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0000" y="1400000"/>
          <a:ext cx="11072000" cy="2660000"/>
        </p:xfrm>
        <a:graphic>
          <a:graphicData uri="http://schemas.openxmlformats.org/drawingml/2006/table">
            <a:tbl>
              <a:tblPr/>
              <a:tblGrid>
                <a:gridCol w="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C039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C039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확인할 것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C039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7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트리 깊이 1~15 훈련/테스트 곡선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깊이 3에서 테스트 최고 0.981 / 4+는 훈련 1.000 제자리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StandardScaler + kNN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proline 평균 747 vs hue 0.96 / kNN 0.722 → 0.944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cross_val_score 5-fold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5개 점수가 조각마다 다름 / 로지스틱 평균 0.984 ±0.020 가장 안정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GridSearchCV (k 1~25 · 깊이·잎)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kNN 최적 k=12 / 트리 max_depth 3, min_samples_leaf 4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개선 전 → 후 비교표 (테스트 최종)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kNN 0.722→0.963 / 트리 0.963→0.963 / 로지스틱 0.963→0.981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12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회귀 지표 MAE·RMSE·R²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선형회귀 MAE 5.53 · R² 0.747 / 깊이 제한 없는 트리 과적합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65910" cy="250000"/>
          </a:xfrm>
          <a:prstGeom prst="roundRect">
            <a:avLst>
              <a:gd name="adj" fmla="val 50000"/>
            </a:avLst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0" rIns="600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4 · Colab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직접 해보기 2개 + 오늘의 결과물 제출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셀 13~15 (10분): 정답을 보기 전에 시도 → 제출 셀 출력 캡처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3회차 · 지도학습 2 및 모델 평가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5400000" cy="22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0000" y="1400000"/>
            <a:ext cx="5400000" cy="70000"/>
          </a:xfrm>
          <a:prstGeom prst="rect">
            <a:avLst/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0000" y="15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C0395F"/>
                </a:solidFill>
                <a:latin typeface="맑은 고딕"/>
                <a:ea typeface="맑은 고딕"/>
              </a:rPr>
              <a:t>🧩 직접 해보기 1 — 로지스틱 회귀 C 튜닝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000" y="1920000"/>
            <a:ext cx="5040000" cy="1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C0395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후보 </a:t>
            </a:r>
            <a:r>
              <a:rPr sz="1050" b="0" i="0">
                <a:solidFill>
                  <a:srgbClr val="1F4E79"/>
                </a:solidFill>
                <a:latin typeface="맑은 고딕"/>
                <a:ea typeface="맑은 고딕"/>
              </a:rPr>
              <a:t>[0.01, 0.1, 1, 10, 100]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을 GridSearchCV로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C0395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옵션 이름: </a:t>
            </a:r>
            <a:r>
              <a:rPr sz="1050" b="0" i="0">
                <a:solidFill>
                  <a:srgbClr val="1F4E79"/>
                </a:solidFill>
                <a:latin typeface="맑은 고딕"/>
                <a:ea typeface="맑은 고딕"/>
              </a:rPr>
              <a:t>logisticregression__C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C0395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예상: 최적 C=1 · 교차검증 0.984 · 테스트 0.981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2000" y="1400000"/>
            <a:ext cx="5400000" cy="22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2000" y="1400000"/>
            <a:ext cx="5400000" cy="70000"/>
          </a:xfrm>
          <a:prstGeom prst="rect">
            <a:avLst/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2000" y="15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C0395F"/>
                </a:solidFill>
                <a:latin typeface="맑은 고딕"/>
                <a:ea typeface="맑은 고딕"/>
              </a:rPr>
              <a:t>🧩 직접 해보기 2 — 판정 문턱값 바꾸기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2000" y="1920000"/>
            <a:ext cx="5040000" cy="1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C0395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환자 확률 문턱값 0.5 → 0.3 → 0.2 → 0.1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C0395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재현율 0.615 →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0.923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, 정밀도 1.0 → 0.800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C0395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병 진단이라면 어느 쪽이 나을지 토론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0000" y="3800000"/>
            <a:ext cx="11072000" cy="619100"/>
          </a:xfrm>
          <a:prstGeom prst="roundRect">
            <a:avLst>
              <a:gd name="adj" fmla="val 8000"/>
            </a:avLst>
          </a:prstGeom>
          <a:solidFill>
            <a:srgbClr val="FA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60000" y="3860000"/>
            <a:ext cx="50000" cy="499100"/>
          </a:xfrm>
          <a:prstGeom prst="rect">
            <a:avLst/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0000" y="3900000"/>
            <a:ext cx="10732000" cy="419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📝 제출물 (셀 15)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이름·학번 + 비교표 + 최종 선택 모델 + 이유 2~3문장 → 출력 화면 캡처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좋은 이유의 조건: ① 표의 숫자 인용 ② 교차검증 안정성(±) 언급 ③ 점수가 같으면 단순한 모델을 택한 이유 ④ 다음에 볼 지표 제안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0000" y="5150000"/>
            <a:ext cx="11072000" cy="400025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0000" y="5210000"/>
            <a:ext cx="50000" cy="28002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0000" y="5250000"/>
            <a:ext cx="10732000" cy="200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시간이 남으면: </a:t>
            </a:r>
            <a:r>
              <a:rPr sz="1050" b="0" i="0">
                <a:solidFill>
                  <a:srgbClr val="1F4E79"/>
                </a:solidFill>
                <a:latin typeface="맑은 고딕"/>
                <a:ea typeface="맑은 고딕"/>
              </a:rPr>
              <a:t>load_breast_cancer()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로 같은 과정 반복 → 이 문제에서 재현율이 왜 중요한지 써 보기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54480" cy="2500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0" rIns="600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5 · 정리와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핵심 정리 — 오늘 가져갈 세 문장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결과물 공유 후 함께 읽기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3회차 · 지도학습 2 및 모델 평가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11072000" cy="447650"/>
          </a:xfrm>
          <a:prstGeom prst="roundRect">
            <a:avLst>
              <a:gd name="adj" fmla="val 8000"/>
            </a:avLst>
          </a:prstGeom>
          <a:solidFill>
            <a:srgbClr val="EC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0000" y="1460000"/>
            <a:ext cx="50000" cy="32765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0000" y="1500000"/>
            <a:ext cx="10732000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300" b="1" i="0">
                <a:solidFill>
                  <a:srgbClr val="1F2937"/>
                </a:solidFill>
                <a:latin typeface="맑은 고딕"/>
                <a:ea typeface="맑은 고딕"/>
              </a:rPr>
              <a:t>1. 모델의 실력은 본 적 없는 데이터로 잰다.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</a:rPr>
              <a:t> 훈련/테스트를 나누고, 설정은 교차검증으로 고르고, 테스트는 마지막에 한 번.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0000" y="2400000"/>
            <a:ext cx="11072000" cy="447650"/>
          </a:xfrm>
          <a:prstGeom prst="roundRect">
            <a:avLst>
              <a:gd name="adj" fmla="val 8000"/>
            </a:avLst>
          </a:prstGeom>
          <a:solidFill>
            <a:srgbClr val="E3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0000" y="2460000"/>
            <a:ext cx="50000" cy="32765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0000" y="2500000"/>
            <a:ext cx="10732000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300" b="1" i="0">
                <a:solidFill>
                  <a:srgbClr val="1F2937"/>
                </a:solidFill>
                <a:latin typeface="맑은 고딕"/>
                <a:ea typeface="맑은 고딕"/>
              </a:rPr>
              <a:t>2. 정확도만 믿지 않는다.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</a:rPr>
              <a:t> 불균형 데이터에서는 정밀도·재현율·F1, 회귀에서는 MAE·RMSE·R² — 문제의 목적이 지표를 정한다.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0000" y="3400000"/>
            <a:ext cx="11072000" cy="447650"/>
          </a:xfrm>
          <a:prstGeom prst="roundRect">
            <a:avLst>
              <a:gd name="adj" fmla="val 8000"/>
            </a:avLst>
          </a:prstGeom>
          <a:solidFill>
            <a:srgbClr val="FDF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0000" y="3460000"/>
            <a:ext cx="50000" cy="3276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0000" y="3500000"/>
            <a:ext cx="10732000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300" b="1" i="0">
                <a:solidFill>
                  <a:srgbClr val="1F2937"/>
                </a:solidFill>
                <a:latin typeface="맑은 고딕"/>
                <a:ea typeface="맑은 고딕"/>
              </a:rPr>
              <a:t>3. 개선은 순환이다.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</a:rPr>
              <a:t> 같은 조건 비교표 → 과적합/과소적합 진단 → 튜닝·스케일링 → 최종 확인 → 숫자 근거로 결정.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0000" y="4600000"/>
            <a:ext cx="2166400" cy="420000"/>
          </a:xfrm>
          <a:prstGeom prst="roundRect">
            <a:avLst>
              <a:gd name="adj" fmla="val 15000"/>
            </a:avLst>
          </a:prstGeom>
          <a:solidFill>
            <a:srgbClr val="E8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0000" y="4630000"/>
            <a:ext cx="2166400" cy="3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1B2A4A"/>
                </a:solidFill>
                <a:latin typeface="맑은 고딕"/>
                <a:ea typeface="맑은 고딕"/>
              </a:rPr>
              <a:t>1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비교표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86400" y="4600000"/>
            <a:ext cx="2166400" cy="420000"/>
          </a:xfrm>
          <a:prstGeom prst="roundRect">
            <a:avLst>
              <a:gd name="adj" fmla="val 15000"/>
            </a:avLst>
          </a:prstGeom>
          <a:solidFill>
            <a:srgbClr val="E8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86400" y="4630000"/>
            <a:ext cx="2166400" cy="3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1B2A4A"/>
                </a:solidFill>
                <a:latin typeface="맑은 고딕"/>
                <a:ea typeface="맑은 고딕"/>
              </a:rPr>
              <a:t>2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지표 읽기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12800" y="4600000"/>
            <a:ext cx="2166400" cy="420000"/>
          </a:xfrm>
          <a:prstGeom prst="roundRect">
            <a:avLst>
              <a:gd name="adj" fmla="val 15000"/>
            </a:avLst>
          </a:prstGeom>
          <a:solidFill>
            <a:srgbClr val="E8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12800" y="4630000"/>
            <a:ext cx="2166400" cy="3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1B2A4A"/>
                </a:solidFill>
                <a:latin typeface="맑은 고딕"/>
                <a:ea typeface="맑은 고딕"/>
              </a:rPr>
              <a:t>3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진단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39200" y="4600000"/>
            <a:ext cx="2166400" cy="420000"/>
          </a:xfrm>
          <a:prstGeom prst="roundRect">
            <a:avLst>
              <a:gd name="adj" fmla="val 15000"/>
            </a:avLst>
          </a:prstGeom>
          <a:solidFill>
            <a:srgbClr val="E8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39200" y="4630000"/>
            <a:ext cx="2166400" cy="3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1B2A4A"/>
                </a:solidFill>
                <a:latin typeface="맑은 고딕"/>
                <a:ea typeface="맑은 고딕"/>
              </a:rPr>
              <a:t>4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튜닝·전처리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65600" y="4600000"/>
            <a:ext cx="2166400" cy="420000"/>
          </a:xfrm>
          <a:prstGeom prst="roundRect">
            <a:avLst>
              <a:gd name="adj" fmla="val 15000"/>
            </a:avLst>
          </a:prstGeom>
          <a:solidFill>
            <a:srgbClr val="E8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65600" y="4630000"/>
            <a:ext cx="2166400" cy="3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1B2A4A"/>
                </a:solidFill>
                <a:latin typeface="맑은 고딕"/>
                <a:ea typeface="맑은 고딕"/>
              </a:rPr>
              <a:t>5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최종 확인 · 결정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54480" cy="2500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0" rIns="600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5 · 정리와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퀴즈 — 세 문제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손들고 답하기 (정답은 다음 슬라이드)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3회차 · 지도학습 2 및 모델 평가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3500000" cy="3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0000" y="1400000"/>
            <a:ext cx="3500000" cy="7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0000" y="1570000"/>
            <a:ext cx="31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000" y="1920000"/>
            <a:ext cx="3140000" cy="2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훈련 정확도 100%, 테스트 정확도 70%.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이 모델의 상태는?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endParaRPr sz="1200" b="0" i="0">
              <a:solidFill>
                <a:srgbClr val="1F2937"/>
              </a:solidFill>
              <a:latin typeface="맑은 고딕"/>
              <a:ea typeface="맑은 고딕"/>
            </a:endParaRP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① 과소적합  ② 과적합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③ 데이터 과다  ④ 정상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0000" y="1400000"/>
            <a:ext cx="3500000" cy="3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60000" y="1400000"/>
            <a:ext cx="3500000" cy="7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40000" y="1570000"/>
            <a:ext cx="31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0000" y="1920000"/>
            <a:ext cx="3140000" cy="2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환자 2% 데이터에서 "모두 정상"이라 답하는 모델의 정확도와, 꼭 봐야 할 지표는?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endParaRPr sz="1200" b="0" i="0">
              <a:solidFill>
                <a:srgbClr val="1F2937"/>
              </a:solidFill>
              <a:latin typeface="맑은 고딕"/>
              <a:ea typeface="맑은 고딕"/>
            </a:endParaRP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① 2%, 정확도  ② 98%, 재현율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③ 50%, MAE  ④ 98%, R²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60000" y="1400000"/>
            <a:ext cx="3672000" cy="3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60000" y="1400000"/>
            <a:ext cx="3672000" cy="7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40000" y="1570000"/>
            <a:ext cx="331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0000" y="1920000"/>
            <a:ext cx="3312000" cy="2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kNN 0.72 → StandardScaler 붙이니 0.94.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가장 알맞은 설명은?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endParaRPr sz="1200" b="0" i="0">
              <a:solidFill>
                <a:srgbClr val="1F2937"/>
              </a:solidFill>
              <a:latin typeface="맑은 고딕"/>
              <a:ea typeface="맑은 고딕"/>
            </a:endParaRP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① k가 바뀌었다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② 열마다 크기가 달라 거리가 큰 열에 좌우되던 것이 고쳐졌다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③ 테스트 데이터가 바뀌었다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54480" cy="2500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0" rIns="600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5 · 정리와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퀴즈 정답과 해설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3회차 · 지도학습 2 및 모델 평가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0000" y="1400000"/>
          <a:ext cx="11072000" cy="2000000"/>
        </p:xfrm>
        <a:graphic>
          <a:graphicData uri="http://schemas.openxmlformats.org/drawingml/2006/table">
            <a:tbl>
              <a:tblPr/>
              <a:tblGrid>
                <a:gridCol w="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문제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정답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해설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Q1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② 과적합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훈련은 잘 맞히는데 새 데이터에 약함 = 외운 것. 깊이 제한·k 늘리기·데이터 늘리기로 완화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Q2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② 98%, 재현율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98%가 정상이므로 정확도 98%. 하지만 환자를 한 명도 못 찾음 → 재현율(진짜 환자 중 찾아낸 비율) 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Q3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②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kNN은 거리를 쓰므로 값이 큰 열(proline)이 거리를 독점. 스케일링으로 모든 열을 같은 크기로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0000" y="4000000"/>
            <a:ext cx="11072000" cy="40955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0000" y="4060000"/>
            <a:ext cx="50000" cy="2895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0000" y="4100000"/>
            <a:ext cx="10732000" cy="2095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HTML 수업자료에 퀴즈 5문항이 더 있습니다 (보기를 누르면 해설이 나옵니다). 집에서 한 번 더 풀어 보세요.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54480" cy="2500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0" rIns="600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5 · 정리와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실습 결과 평가 기준 — 무엇을 보는가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"모델 성능 결과를 바탕으로 개선 방향 결정" · 제출 캡처 1장으로 평가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3회차 · 지도학습 2 및 모델 평가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0000" y="1400000"/>
          <a:ext cx="11072000" cy="1900000"/>
        </p:xfrm>
        <a:graphic>
          <a:graphicData uri="http://schemas.openxmlformats.org/drawingml/2006/table">
            <a:tbl>
              <a:tblPr/>
              <a:tblGrid>
                <a:gridCol w="2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우수 (3)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보통 (2)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미흡 (1)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① 비교표 완성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3개 이상 모델의 전/후 점수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일부 모델만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표 없음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② 지표 해석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정확도 외 정밀도/재현율 또는 교차검증 편차 언급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정확도만 언급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해석 없음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③ 개선 방향 결정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표의 숫자를 인용해 최종 모델과 이유 2~3문장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이유 한 문장·근거 부족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선택만, 이유 없음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④ 직접 해보기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2개 모두 실행·결과 설명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1개 실행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미실행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0000" y="4100000"/>
            <a:ext cx="11072000" cy="419075"/>
          </a:xfrm>
          <a:prstGeom prst="roundRect">
            <a:avLst>
              <a:gd name="adj" fmla="val 8000"/>
            </a:avLst>
          </a:prstGeom>
          <a:solidFill>
            <a:srgbClr val="E8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0000" y="4160000"/>
            <a:ext cx="50000" cy="29907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0000" y="4200000"/>
            <a:ext cx="10732000" cy="219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핵심은 ③ — "점수가 가장 높아서"만이 아니라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왜 그 숫자를 믿을 수 있는지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(안정성·단순함·목적에 맞는 지표)까지 쓰는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54480" cy="2500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0" rIns="600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5 · 정리와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다음 시간 예고 — 4회차 비지도학습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정답이 없는 데이터를 컴퓨터가 스스로 묶는다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3회차 · 지도학습 2 및 모델 평가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5400000" cy="26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0000" y="1400000"/>
            <a:ext cx="5400000" cy="7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0000" y="15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4회차에서 배울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000" y="1920000"/>
            <a:ext cx="5040000" cy="2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정답(y)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없이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 배우는 비지도학습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군집(k-means)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: 비슷한 것끼리 묶기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차원축소(PCA)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: 13개 열을 2개로 줄여 그리기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오늘 쓴 와인 데이터를 정답 없이 다시 만난다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2000" y="1400000"/>
            <a:ext cx="5400000" cy="26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2000" y="1400000"/>
            <a:ext cx="5400000" cy="7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2000" y="15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더 해보기 (선택)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2000" y="1920000"/>
            <a:ext cx="5040000" cy="2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50" b="0" i="0">
                <a:solidFill>
                  <a:srgbClr val="1F4E79"/>
                </a:solidFill>
                <a:latin typeface="맑은 고딕"/>
                <a:ea typeface="맑은 고딕"/>
              </a:rPr>
              <a:t>load_breast_cancer()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로 오늘 과정 반복 — 재현율이 중요한 이유 쓰기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50" b="0" i="0">
                <a:solidFill>
                  <a:srgbClr val="1F4E79"/>
                </a:solidFill>
                <a:latin typeface="맑은 고딕"/>
                <a:ea typeface="맑은 고딕"/>
              </a:rPr>
              <a:t>RandomForestClassifier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를 비교표에 추가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회귀에 </a:t>
            </a:r>
            <a:r>
              <a:rPr sz="1150" b="0" i="0">
                <a:solidFill>
                  <a:srgbClr val="1F4E79"/>
                </a:solidFill>
                <a:latin typeface="맑은 고딕"/>
                <a:ea typeface="맑은 고딕"/>
              </a:rPr>
              <a:t>KNeighborsRegressor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 추가, 스케일링 전후 MAE 비교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0000" y="4250000"/>
            <a:ext cx="11072000" cy="447650"/>
          </a:xfrm>
          <a:prstGeom prst="roundRect">
            <a:avLst>
              <a:gd name="adj" fmla="val 8000"/>
            </a:avLst>
          </a:prstGeom>
          <a:solidFill>
            <a:srgbClr val="E8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60000" y="4310000"/>
            <a:ext cx="50000" cy="3276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0000" y="4350000"/>
            <a:ext cx="10732000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</a:rPr>
              <a:t>오늘의 한 문장: </a:t>
            </a:r>
            <a:r>
              <a:rPr sz="1300" b="1" i="0">
                <a:solidFill>
                  <a:srgbClr val="1F2937"/>
                </a:solidFill>
                <a:latin typeface="맑은 고딕"/>
                <a:ea typeface="맑은 고딕"/>
              </a:rPr>
              <a:t>"점수는 재는 법에 따라 달라진다 — 그러니 재는 법부터 고른다."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28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3737</Words>
  <Application>Microsoft Office PowerPoint</Application>
  <PresentationFormat>와이드스크린</PresentationFormat>
  <Paragraphs>543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4" baseType="lpstr">
      <vt:lpstr>맑은 고딕</vt:lpstr>
      <vt:lpstr>Arial</vt:lpstr>
      <vt:lpstr>Calibri</vt:lpstr>
      <vt:lpstr>Cambria Math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SoonChan Kim</cp:lastModifiedBy>
  <cp:revision>1</cp:revision>
  <dcterms:created xsi:type="dcterms:W3CDTF">2013-01-27T09:14:16Z</dcterms:created>
  <dcterms:modified xsi:type="dcterms:W3CDTF">2026-10-12T12:20:52Z</dcterms:modified>
  <cp:category/>
</cp:coreProperties>
</file>
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0000" y="1500000"/>
            <a:ext cx="95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A5B4CB"/>
                </a:solidFill>
                <a:latin typeface="맑은 고딕"/>
                <a:ea typeface="맑은 고딕"/>
              </a:rPr>
              <a:t>2026 경기도 공유학교 · 인공지능 기초  ·  2회차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2000000"/>
            <a:ext cx="9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지도학습 1
정답이 있는 데이터로 규칙 배우기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365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DDE3EE"/>
                </a:solidFill>
                <a:latin typeface="맑은 고딕"/>
                <a:ea typeface="맑은 고딕"/>
              </a:rPr>
              <a:t>"유튜브는 어떻게 내가 좋아할 영상을 알까?" — 정답이 붙은 수많은 기록에서 규칙을 배웠기 때문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450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오늘: 지도학습이란 → 회귀 vs 분류 → 알고리즘 4가지의 원리 → 목적에 맞게 고르기 → Colab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483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실습: 공부시간→성적(선형회귀) · 붓꽃 품종 맞히기(kNN·결정트리)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516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오늘의 결과물: 문제 상황 3개에 알맞은 알고리즘을 고르고 근거 쓰기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학습목표와 오늘의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강의 45분 + Colab 실습 60분 + 정리·평가 15분 — 성취기준 [인일 03-01]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4900000" cy="27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49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45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학습목표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4540000" cy="2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지도학습이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정답(라벨)이 있는 데이터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로 규칙을 배우는 것임을 설명한다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회귀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(숫자 맞히기)와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분류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(종류 맞히기)를 구분한다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선형회귀 · kNN · 결정트리 · 로지스틱 회귀의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구조와 원리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를 말한다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문제 상황에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알맞은 알고리즘을 고르고 근거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를 쓴다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0000" y="1400000"/>
          <a:ext cx="5972000" cy="1840152"/>
        </p:xfrm>
        <a:graphic>
          <a:graphicData uri="http://schemas.openxmlformats.org/drawingml/2006/table">
            <a:tbl>
              <a:tblPr firstRow="0" bandRow="0"/>
              <a:tblGrid>
                <a:gridCol w="900000"/>
                <a:gridCol w="3800000"/>
                <a:gridCol w="1272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형태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지난 시간 복습 · 오늘의 질문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1 지도학습이란 · 회귀 vs 분류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0:20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2 알고리즘 4가지의 원리 · 고르는 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25분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3 Colab 실습 A 회귀 · B 분류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실습 60분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결과물 작성 · 퀴즈 · 정리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0000" y="4350000"/>
            <a:ext cx="11072000" cy="6191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4410000"/>
            <a:ext cx="50000" cy="4991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4450000"/>
            <a:ext cx="107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실습 환경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준비물: 구글 계정으로 로그인한 브라우저 + 실습 노트북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02_지도학습1_실습_colab.ipynb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(Colab → 파일 → 노트 업로드). 설치할 것은 없습니다.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지난 시간 → 오늘: 데이터를 봤으니, 이제 데이터로 "맞히기"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1회차에서는 표를 요약하고 그림을 그려 패턴을 찾았다. 오늘은 그 패턴으로 새 데이터를 예측하는 모델을 만든다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00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1회차 · 데이터
표 · 통계 · 그래프로 패턴 찾기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64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864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2회차 · 지도학습 1 (오늘)
정답 있는 데이터로 규칙 배우기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28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128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3회차 · 지도학습 2
얼마나 잘 맞히나? 평가·개선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2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392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4회차 · 비지도학습
정답 없이 묶기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56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656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5회차 · 강화학습
상과 벌로 배우기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000" y="21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0000" y="21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0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오늘의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000" y="26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유튜브·넷플릭스는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내가 볼 영상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을 어떻게 고를까?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스마트폰은 사진 속 얼굴이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누구인지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어떻게 알까?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일기예보는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내일 기온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을 어떻게 숫자로 말할까?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→ 공통점: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과거의 정답 기록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에서 규칙을 배웠다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2000" y="21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32000" y="21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12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오늘 만들 것 (Colab)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2000" y="26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공부시간 → 성적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을 맞히는 직선 (선형회귀)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꽃잎 크기 → 붓꽃 품종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을 맞히는 분류기 (kNN · 결정트리)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처음 보는 데이터로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시험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보기 (훈련/테스트 분리)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결과물: 문제 상황 3개 → 알고리즘 선택 + 근거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지도학습이란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정답(라벨)이 붙은 데이터에서 규칙을 배운다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지도학습 = 정답 있는 문제집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용어: 특징 · 라벨 · 모델 · 학습 · 예측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회귀 vs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생활 속 문제를 회귀/분류로 나누기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97914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지도학습이란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지도학습 = 정답이 붙은 문제집으로 공부하는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"지도(supervised)" = 선생님(정답)이 옆에서 채점해 준다는 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pic>
        <p:nvPicPr>
          <p:cNvPr id="8" name="Picture 7" descr="09_supervised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7391917" cy="250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60000" y="4050000"/>
            <a:ext cx="11072000" cy="657200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110000"/>
            <a:ext cx="50000" cy="5372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150000"/>
            <a:ext cx="1073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입력(특징)을 넣으면 모델이 답을 내놓고,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정답과 비교해 틀린 만큼 규칙을 고친다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. 이것을 수천·수만 번 반복하는 것이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학습(training)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. 학습이 끝나면 정답을 모르는 새 데이터에 대해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예측(prediction)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" y="51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0000" y="5160000"/>
            <a:ext cx="50000" cy="299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0000" y="52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비유: 문제집(입력)과 정답지(라벨)를 같이 보며 푸는 법을 익힌 뒤, 정답지 없는 새 문제(시험)를 푼다.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97914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지도학습이란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용어 5개만 알면 오늘 수업의 절반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붓꽃 예시로 — 이 다섯 단어는 5회차까지 계속 나온다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9100000" cy="2280000"/>
        </p:xfrm>
        <a:graphic>
          <a:graphicData uri="http://schemas.openxmlformats.org/drawingml/2006/table">
            <a:tbl>
              <a:tblPr firstRow="0" bandRow="0"/>
              <a:tblGrid>
                <a:gridCol w="1700000"/>
                <a:gridCol w="4000000"/>
                <a:gridCol w="3400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용어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뜻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붓꽃 예시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특징 (feature, X)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모델에 넣어 주는 정보 · 입력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꽃받침 길이·너비, 꽃잎 길이·너비 (4개 숫자)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라벨 (label, y)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맞혀야 하는 정답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품종: setosa / versicolor / virginica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모델 (model)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특징 → 라벨 규칙을 담는 상자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"꽃잎 길이 ≤ 2.5cm면 setosa" 같은 규칙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학습 (fit)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데이터로 규칙을 찾는 과정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model.fit(X, y)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예측 (predict)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새 특징에 규칙을 적용해 답 내기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model.predict(새 꽃) → "setosa"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300000"/>
            <a:ext cx="11072000" cy="428600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360000"/>
            <a:ext cx="50000" cy="3086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400000"/>
            <a:ext cx="1073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데이터 한 줄(행) = 특징들 + 라벨 하나.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라벨이 있으면 지도학습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, 없으면 비지도학습(4회차).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97914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지도학습이란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맞힐 것이 숫자면 회귀, 종류면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지도학습은 딱 두 갈래 — 이 구분이 알고리즘 선택의 첫 단계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pic>
        <p:nvPicPr>
          <p:cNvPr id="8" name="Picture 7" descr="01_regression_vs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921676" cy="270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60000" y="4250000"/>
            <a:ext cx="5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250000"/>
            <a:ext cx="540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000" y="442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회귀 (regression)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4770000"/>
            <a:ext cx="504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정답이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연속된 숫자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: 점수 · 기온 · 가격 · 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"몇 점? 몇 도? 얼마?"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결과는 직선/곡선 같은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함수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4250000"/>
            <a:ext cx="5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4250000"/>
            <a:ext cx="540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2000" y="442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분류 (classification)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2000" y="4770000"/>
            <a:ext cx="504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정답이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정해진 종류(카테고리)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: 품종 · 스팸/정상 · 합격/불합격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"어느 쪽? 무엇?"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결과는 데이터를 나누는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경계선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97914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지도학습이란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생활 속 문제를 회귀 / 분류로 나눠 보자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정답이 무엇인지(숫자? 종류?)만 보면 된다 — 함께 채워 봅시다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520000"/>
        </p:xfrm>
        <a:graphic>
          <a:graphicData uri="http://schemas.openxmlformats.org/drawingml/2006/table">
            <a:tbl>
              <a:tblPr firstRow="0" bandRow="0"/>
              <a:tblGrid>
                <a:gridCol w="5600000"/>
                <a:gridCol w="1500000"/>
                <a:gridCol w="397200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회귀 / 분류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내일 급식 잔반량(kg)을 메뉴·요일로 맞히기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정답이 숫자(kg)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사진 속 동물이 고양이인지 강아지인지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정답이 두 종류 중 하나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문자 메시지가 스팸인지 아닌지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예/아니오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중고 스마트폰 가격을 연식·용량으로 맞히기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정답이 가격(숫자)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손글씨 숫자 이미지가 0~9 중 무엇인지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10가지 종류 중 하나 (숫자지만 "종류"!)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키·몸무게로 100m 달리기 기록(초) 맞히기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정답이 초(숫자)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4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460000"/>
            <a:ext cx="50000" cy="2990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5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함정: "0~9 숫자 맞히기"는 숫자처럼 보이지만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9와 0 사이에 8.5는 없다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→ 종류를 고르는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분류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. 정답 사이에 중간값이 있으면 회귀, 없으면 분류.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알고리즘의 구조와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같은 문제도 푸는 방법이 여러 가지 — 4가지 대표 선수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20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E8C8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선형회귀 — 직선 하나로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kNN — 이웃 투표로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결정트리 — 예/아니오 질문으로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로지스틱 회귀 — 확률로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324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5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목적에 맞게 고르기 · 훈련/테스트 분리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96846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알고리즘의 구조와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선형회귀: 점들과 가장 가까운 직선 하나를 찾는다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회귀의 가장 단순한 모델 — 오늘 실습 Part 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pic>
        <p:nvPicPr>
          <p:cNvPr id="8" name="Picture 7" descr="02_linear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300000" cy="393682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060000" y="1400000"/>
            <a:ext cx="4572000" cy="2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060000" y="1400000"/>
            <a:ext cx="4572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240000" y="1570000"/>
            <a:ext cx="42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0000" y="1920000"/>
            <a:ext cx="4212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후보 직선을 무수히 그려 보고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각 점에서 직선까지의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세로 거리(오차)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를 재서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오차 제곱의 합이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가장 작은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직선을 고른다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60000" y="3950000"/>
            <a:ext cx="4572000" cy="61910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060000" y="4010000"/>
            <a:ext cx="50000" cy="4991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60000" y="4050000"/>
            <a:ext cx="42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언제? 특징과 정답이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대체로 직선 관계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일 때. 결과를 "1시간 더 공부하면 7점 오른다"처럼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설명하기 쉽다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96846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알고리즘의 구조와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직선의 식을 말로 풀면 "기울기"와 "절편"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실습에서 model.coef_ 와 model.intercept_ 로 확인한다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11072000" cy="12886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0000" cy="128868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00" y="1500000"/>
            <a:ext cx="10772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E8C86"/>
                </a:solidFill>
                <a:latin typeface="맑은 고딕"/>
                <a:ea typeface="맑은 고딕"/>
              </a:rPr>
              <a:t>선형회귀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1720000"/>
            <a:ext cx="10772000" cy="108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i="0">
                <a:solidFill>
                  <a:srgbClr val="1F2937"/>
                </a:solidFill>
                <a:latin typeface="Cambria Math"/>
                <a:ea typeface="맑은 고딕"/>
              </a:rPr>
              <a:t>성적  =  기울기 × 공부시간  +  절편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i="0">
                <a:solidFill>
                  <a:srgbClr val="1F2937"/>
                </a:solidFill>
                <a:latin typeface="Cambria Math"/>
                <a:ea typeface="맑은 고딕"/>
              </a:rPr>
              <a:t>예)  성적  =  7.4 × 공부시간  +  42.8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290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기울기 (coef_)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공부시간이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1시간 늘 때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성적이 얼마나 오르는가 → 7.4점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절편 (intercept_)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공부시간이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0일 때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성적 → 42.8점 (시작점)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예측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3시간 → 7.4×3 + 42.8 ≈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65점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2900000"/>
            <a:ext cx="5400000" cy="8286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2960000"/>
            <a:ext cx="50000" cy="7086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2000" y="3000000"/>
            <a:ext cx="5060000" cy="628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주의 ① 특징이 여러 개면 기울기도 여러 개 (성적 = a×공부 + b×수면 + c×… + 절편)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주의 ② 데이터 범위 밖(하루 20시간)을 넣으면 190점 같은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엉터리 값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— 모델은 본 적 없는 영역을 모른다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96846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알고리즘의 구조와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kNN: 가장 가까운 이웃 k명에게 물어보고 다수결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k-최근접 이웃(k-Nearest Neighbors) — 규칙을 외우지 않고 "비슷한 것끼리"로 판단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pic>
        <p:nvPicPr>
          <p:cNvPr id="8" name="Picture 7" descr="03_knn_v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600000" cy="4237837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360000" y="1400000"/>
            <a:ext cx="5272000" cy="2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360000" y="1400000"/>
            <a:ext cx="5272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40000" y="1570000"/>
            <a:ext cx="49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원리 (3단계)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000" y="1920000"/>
            <a:ext cx="4912000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새 데이터와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모든 훈련 데이터의 거리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를 잰다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가장 가까운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k개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를 고른다 (k=5면 5개)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그중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가장 많은 종류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로 답한다 (투표)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0000" y="3900000"/>
            <a:ext cx="5272000" cy="82865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60000" y="3960000"/>
            <a:ext cx="50000" cy="70865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60000" y="4000000"/>
            <a:ext cx="4932000" cy="628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k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가 작으면(1) 튀는 값에 흔들리고, 너무 크면 다 뭉뚱그린다 → 실습 🧩2에서 k를 바꿔 본다.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장점: 단순·직관적. 단점: 데이터가 많으면 거리 계산이 느림.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96846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알고리즘의 구조와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결정트리: "예/아니오" 질문을 이어 가며 나눈다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스무고개 — 왜 그렇게 판단했는지 사람이 읽을 수 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pic>
        <p:nvPicPr>
          <p:cNvPr id="8" name="Picture 7" descr="04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600000" cy="3638289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360000" y="1400000"/>
            <a:ext cx="4272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360000" y="1400000"/>
            <a:ext cx="4272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40000" y="1570000"/>
            <a:ext cx="39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0000" y="1920000"/>
            <a:ext cx="3912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데이터를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가장 잘 갈라놓는 질문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찾는다 (예: 꽃잎 길이 ≤ 2.5?)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나뉜 각 그룹에서 다시 질문을 찾는다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더 못 나누거나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정해진 깊이(max_depth)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에 닿으면 멈춤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맨 아래 잎(leaf)의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다수 종류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가 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000" y="4050000"/>
            <a:ext cx="4272000" cy="61910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360000" y="4110000"/>
            <a:ext cx="50000" cy="4991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60000" y="4150000"/>
            <a:ext cx="39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장점: 규칙이 그림으로 보인다(설명 가능). 단점: 너무 깊게 파면 훈련 데이터를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통째로 외움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(과적합 — 3회차).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96846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알고리즘의 구조와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로지스틱 회귀: "예"일 확률을 S자 곡선으로 내놓는다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이름에 "회귀"가 있지만 하는 일은 분류 — 예/아니오 문제의 기본기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pic>
        <p:nvPicPr>
          <p:cNvPr id="8" name="Picture 7" descr="05_logisti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300000" cy="3716624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060000" y="1400000"/>
            <a:ext cx="4572000" cy="2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060000" y="1400000"/>
            <a:ext cx="4572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240000" y="1570000"/>
            <a:ext cx="42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0000" y="1920000"/>
            <a:ext cx="4212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특징들을 곱해 더해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점수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하나를 만든다 (선형회귀처럼)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점수를 S자 곡선에 넣어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0~1 확률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로 바꾼다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확률 ≥ 0.5 → "예", 아니면 "아니오"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60000" y="3950000"/>
            <a:ext cx="4572000" cy="61910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060000" y="4010000"/>
            <a:ext cx="50000" cy="4991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60000" y="4050000"/>
            <a:ext cx="42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언제? 합격/불합격, 스팸/정상처럼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두 가지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중 하나이고 "몇 % 확률인지"도 알고 싶을 때. 결과가 확률이라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위험도 순위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를 매길 수 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96846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알고리즘의 구조와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네 알고리즘 한눈에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정답 유형 · 판단 방식 · 설명 가능성 · 조절 손잡이(하이퍼파라미터)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800000"/>
        </p:xfrm>
        <a:graphic>
          <a:graphicData uri="http://schemas.openxmlformats.org/drawingml/2006/table">
            <a:tbl>
              <a:tblPr firstRow="0" bandRow="0"/>
              <a:tblGrid>
                <a:gridCol w="1900000"/>
                <a:gridCol w="1300000"/>
                <a:gridCol w="3200000"/>
                <a:gridCol w="2400000"/>
                <a:gridCol w="2272000"/>
              </a:tblGrid>
              <a:tr h="560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 유형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판단 방식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장점 / 단점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조절 손잡이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선형회귀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오차 최소 직선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설명 쉬움 / 곡선 관계엔 약함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(거의 없음)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kNN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분류 (회귀도 가능)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가까운 k개 다수결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단순·직관 / 데이터 많으면 느림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 (이웃 수)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결정트리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분류 (회귀도 가능)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예/아니오 질문 나무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규칙이 보임 / 깊으면 외워 버림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max_depth (깊이)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로지스틱 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분류 (2종류)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점수 → S곡선 → 확률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확률 제공 / 복잡한 경계엔 약함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(규제 강도 C)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7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760000"/>
            <a:ext cx="50000" cy="299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8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"조절 손잡이" = 하이퍼파라미터. 사람이 정해 주는 값이고, 어떻게 정하느냐에 따라 성능이 달라진다 → 3회차 "튜닝"의 주제.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96846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알고리즘의 구조와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목적에 맞는 알고리즘 고르기 — 질문 두 개면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① 정답이 있는가? ② 맞힐 것이 숫자인가 종류인가? 그다음 "설명이 필요한가 · 확률이 필요한가"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pic>
        <p:nvPicPr>
          <p:cNvPr id="8" name="Picture 7" descr="07_algorithm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7200000" cy="3664516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960000" y="1400000"/>
            <a:ext cx="3672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960000" y="1400000"/>
            <a:ext cx="3672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40000" y="1570000"/>
            <a:ext cx="33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고를 때 더 물어볼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000" y="1920000"/>
            <a:ext cx="3312000" cy="2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왜 그렇게 판단했는지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보여 줘야 하나? → 결정트리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확률(몇 %)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이 필요한가? → 로지스틱 회귀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관계가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직선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에 가깝나? → 선형회귀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비슷한 사례로 판단하면 되나? → kNN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정답이 없나? → 비지도학습(4회차)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96846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알고리즘의 구조와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공부한 문제로 시험 보면 안 된다 — 훈련/테스트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모델의 진짜 실력은 "처음 보는 데이터"에서 재야 한다 (실습 B-3)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pic>
        <p:nvPicPr>
          <p:cNvPr id="8" name="Picture 7" descr="06_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8295740" cy="260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60000" y="4150000"/>
            <a:ext cx="5400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15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000" y="432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나누는 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4670000"/>
            <a:ext cx="504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전체를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무작위로 섞은 뒤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75% : 25%로 자른다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훈련 데이터로만 </a:t>
            </a:r>
            <a:r>
              <a:rPr sz="1150" b="0" i="0">
                <a:solidFill>
                  <a:srgbClr val="1F4E79"/>
                </a:solidFill>
                <a:latin typeface="맑은 고딕"/>
                <a:ea typeface="맑은 고딕"/>
              </a:rPr>
              <a:t>fit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테스트 데이터로 </a:t>
            </a:r>
            <a:r>
              <a:rPr sz="1150" b="0" i="0">
                <a:solidFill>
                  <a:srgbClr val="1F4E79"/>
                </a:solidFill>
                <a:latin typeface="맑은 고딕"/>
                <a:ea typeface="맑은 고딕"/>
              </a:rPr>
              <a:t>score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(정확도)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4150000"/>
            <a:ext cx="5400000" cy="6381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4210000"/>
            <a:ext cx="50000" cy="5181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2000" y="4250000"/>
            <a:ext cx="5060000" cy="438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훈련 정확도만 높고 테스트 정확도가 낮으면? → 문제집을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외운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것(과적합). 3회차에서 이것을 잡는 방법을 배운다.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Colab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Part A 회귀(공부시간→성적) · Part B 분류(붓꽃) — 60분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20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D9770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Colab 접속 · 노트북 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sklearn 3단계: 만들기 → fit → 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Part A 선형회귀 (셀 1~7)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Part B kNN · 결정트리 (셀 8~15)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324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5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결과물: 알고리즘 선택 + 근거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준비: Colab 접속 → 노트북 업로드 → 위에서부터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설치 없음 · 구글 계정만 있으면 됨 · 한글 폰트는 첫 셀이 자동 설치(10초)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00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colab.research.google.com 접속
(구글 로그인)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64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864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파일 → 노트 업로드
02_지도학습1_실습_colab.ipynb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28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128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셀 클릭 → Shift+Enter
(위에서부터 순서대로)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2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392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오류 나면 마지막 빨간 줄 읽기
→ 앞 셀 실행했나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56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656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그래도 안 되면 런타임 →
런타임 다시 시작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000" y="2100000"/>
            <a:ext cx="54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0000" y="21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0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노트북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000" y="2620000"/>
            <a:ext cx="504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0 준비(폰트·도구)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Part A 회귀: 데이터 → 산점도 → fit → 직선 → 예측 → 🧩1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Part B 분류: iris → 산점도 → 분리 → kNN → 트리 → 비교표 → 새 꽃 → 🧩2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📝 제출 셀 (이름·학번·답안 3개)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2000" y="2100000"/>
            <a:ext cx="54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32000" y="21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12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자주 나는 오류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2000" y="2620000"/>
            <a:ext cx="504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NameError: name 'df' is not defined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앞 셀을 안 실행함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KeyError: '공부시간'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열 이름 오타(띄어쓰기 포함)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ValueError: Expected 2D array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X에 대괄호 두 번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df[[...]]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그래프 한글이 □□ → 0번 셀 다시 실행 후 그래프 셀 재실행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scikit-learn은 어떤 모델이든 3단계가 똑같다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이 세 줄을 외우면 오늘 나오는 네 알고리즘 모두 쓸 수 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146996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00000" y="1490000"/>
            <a:ext cx="447040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7040" y="1470000"/>
            <a:ext cx="459296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3단계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60000"/>
            <a:ext cx="5080000" cy="1049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E5E7EB"/>
                </a:solidFill>
                <a:latin typeface="Consolas"/>
                <a:ea typeface="Consolas"/>
              </a:rPr>
              <a:t>from sklearn.linear_model import LinearRegression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E5E7E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E5E7EB"/>
                </a:solidFill>
                <a:latin typeface="Consolas"/>
                <a:ea typeface="Consolas"/>
              </a:rPr>
              <a:t>model = LinearRegression()   </a:t>
            </a:r>
            <a:r>
              <a:rPr sz="1100" b="0" i="0">
                <a:solidFill>
                  <a:srgbClr val="86EFAC"/>
                </a:solidFill>
                <a:latin typeface="Consolas"/>
                <a:ea typeface="Consolas"/>
              </a:rPr>
              <a:t># 1) 빈 모델 만들기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E5E7EB"/>
                </a:solidFill>
                <a:latin typeface="Consolas"/>
                <a:ea typeface="Consolas"/>
              </a:rPr>
              <a:t>model.fit(X_train, y_train)  </a:t>
            </a:r>
            <a:r>
              <a:rPr sz="1100" b="0" i="0">
                <a:solidFill>
                  <a:srgbClr val="86EFAC"/>
                </a:solidFill>
                <a:latin typeface="Consolas"/>
                <a:ea typeface="Consolas"/>
              </a:rPr>
              <a:t># 2) 학습 (fit = 맞추다)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E5E7EB"/>
                </a:solidFill>
                <a:latin typeface="Consolas"/>
                <a:ea typeface="Consolas"/>
              </a:rPr>
              <a:t>model.predict(X_new)         </a:t>
            </a:r>
            <a:r>
              <a:rPr sz="1100" b="0" i="0">
                <a:solidFill>
                  <a:srgbClr val="86EFAC"/>
                </a:solidFill>
                <a:latin typeface="Consolas"/>
                <a:ea typeface="Consolas"/>
              </a:rPr>
              <a:t># 3) 예측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" y="3500000"/>
            <a:ext cx="5400000" cy="1064068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00000" y="3590000"/>
            <a:ext cx="432816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2816" y="3570000"/>
            <a:ext cx="4607184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다른 모델도 같은 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860000"/>
            <a:ext cx="5080000" cy="6440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</a:rPr>
              <a:t>from sklearn.neighbors import KNeighborsClassifier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</a:rPr>
              <a:t>model = KNeighborsClassifier(n_neighbors=5)   </a:t>
            </a:r>
            <a:r>
              <a:rPr sz="1050" b="0" i="0">
                <a:solidFill>
                  <a:srgbClr val="86EFAC"/>
                </a:solidFill>
                <a:latin typeface="Consolas"/>
                <a:ea typeface="Consolas"/>
              </a:rPr>
              <a:t># 이름과 손잡이만 바뀜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</a:rPr>
              <a:t>model.fit(X_train, y_train); model.predict(X_new)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2000" y="140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X (대문자)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특징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표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— 열이 하나여도 </a:t>
            </a:r>
            <a:r>
              <a:rPr sz="1150" b="0" i="0">
                <a:solidFill>
                  <a:srgbClr val="1F4E79"/>
                </a:solidFill>
                <a:latin typeface="맑은 고딕"/>
                <a:ea typeface="맑은 고딕"/>
              </a:rPr>
              <a:t>df[["공부시간"]]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처럼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대괄호 두 번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y (소문자)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정답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한 줄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— </a:t>
            </a:r>
            <a:r>
              <a:rPr sz="1150" b="0" i="0">
                <a:solidFill>
                  <a:srgbClr val="1F4E79"/>
                </a:solidFill>
                <a:latin typeface="맑은 고딕"/>
                <a:ea typeface="맑은 고딕"/>
              </a:rPr>
              <a:t>df["성적"]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fit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훈련 데이터로 규칙 찾기.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훈련 데이터만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넣는다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predict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새 데이터를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같은 열 순서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의 표로 넣기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score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테스트 데이터로 정확도(분류) 또는 R²(회귀)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Part A 회귀 — 셀마다 무엇을 확인하나 (25분)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공부시간 → 성적: 데이터 40명은 코드 안에서 만든다 (씨앗 2024 → 모두 같은 데이터)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520000"/>
        </p:xfrm>
        <a:graphic>
          <a:graphicData uri="http://schemas.openxmlformats.org/drawingml/2006/table">
            <a:tbl>
              <a:tblPr firstRow="0" bandRow="0"/>
              <a:tblGrid>
                <a:gridCol w="900000"/>
                <a:gridCol w="3800000"/>
                <a:gridCol w="637200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하는 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확인할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A-1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학생 40명 데이터 만들기 (공부시간·성적)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행 40, 열 2 · 숨은 규칙 "42 + 7.5×시간 + 운"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A-2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산점도 그리기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점이 오른쪽 위로 늘어서는가? (직선 후보)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A-3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LinearRegression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fit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기울기 ≈ 7.4, 절편 ≈ 42.8 → 숨은 규칙을 찾아냈나?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A-4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찾은 직선을 점 위에 그리기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직선 위·아래로 점이 고르게 흩어졌나?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A-5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1~5시간 예측 · 20시간 예측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1시간당 기울기만큼 증가 · 20시간 → 190점(엉터리!)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🧩1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내 공부시간으로 예측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실제 내 성적과 왜 다른가? (특징이 하나뿐)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35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410000"/>
            <a:ext cx="50000" cy="299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45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기울기·절편 숫자는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여러분 화면에서도 똑같이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나와야 합니다(씨앗 고정). 다르면 A-1 셀을 다시 실행하세요.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Part B 분류 — 셀마다 무엇을 확인하나 (30분)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붓꽃 150송이(sklearn 내장) · 훈련 112 / 테스트 38 · kNN vs 결정트리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970000"/>
        </p:xfrm>
        <a:graphic>
          <a:graphicData uri="http://schemas.openxmlformats.org/drawingml/2006/table">
            <a:tbl>
              <a:tblPr firstRow="0" bandRow="0"/>
              <a:tblGrid>
                <a:gridCol w="900000"/>
                <a:gridCol w="3800000"/>
                <a:gridCol w="6372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하는 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확인할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B-1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iris 불러와 표로 만들기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150행 5열 · 품종별 50송이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B-2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꽃잎 길이 vs 너비 산점도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setosa는 뚝 떨어져 있고 나머지 둘은 조금 겹침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B-3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train_test_split (25%, stratify)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훈련 112 / 테스트 38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B-4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kNN k=3, k=5 학습·정확도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테스트 정확도 1.000 (38/38)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B-5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결정트리 max_depth=3 + plot_tree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정확도 0.947 · 맨 위 질문이 "꽃잎"인가?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B-6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세 모델 비교표 (훈련/테스트 정확도)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같은 시험지로 비교 · 훈련≠테스트 정확도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B-7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새 꽃 2송이 예측 · 투표 확률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세 모델 답이 같은가? 확률 [1, 0, 0]의 뜻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🧩2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 = 1, 3, 5, 9, 15, 31 정확도 그래프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k=1이 살짝 낮음(0.974) · 큰 k도 결국 떨어짐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결과를 읽는 법 — 숫자와 그림이 말하는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출력을 "그냥 나왔다"로 넘기지 말고 한 줄로 해석해 보자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3500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35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31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기울기 7.38 · 절편 42.78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3140000" cy="2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"1시간 더 공부하면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약 7.4점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오른다"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"0시간이면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약 43점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부터 시작"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데이터를 만든 규칙(7.5, 42)과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거의 같다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모델이 규칙을 찾아냄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0000" y="1400000"/>
            <a:ext cx="3500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60000" y="1400000"/>
            <a:ext cx="35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40000" y="1570000"/>
            <a:ext cx="31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테스트 정확도 0.947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0000" y="1920000"/>
            <a:ext cx="3140000" cy="2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38송이 중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36송이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맞힘 (2송이 틀림)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훈련 정확도(0.964)보다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조금 낮다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— 정상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1.000이면 다 맞힘. 단, 쉬운 데이터(iris)라 가능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→ 3회차: 정확도만으로 부족한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0000" y="1400000"/>
            <a:ext cx="3672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960000" y="1400000"/>
            <a:ext cx="3672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40000" y="1570000"/>
            <a:ext cx="33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결정트리 그림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0000" y="1920000"/>
            <a:ext cx="3312000" cy="2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상자 맨 윗줄 =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질문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(예: 꽃잎길이 ≤ 2.45)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samples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이 상자에 온 송이 수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value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[setosa, versicolor, virginica] 개수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class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다수 품종 = 이 상자의 답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왼쪽 가지 = 질문에 "예"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00" y="485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0000" y="4910000"/>
            <a:ext cx="50000" cy="2990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0000" y="495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발표 요령: "우리 모델은 ○○를 입력으로 △△를 맞히고, 테스트 정확도는 □□였다. 가장 중요한 특징은 ◇◇였다." — 이 한 문장이 실습 결과 보고의 기본형.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오늘의 결과물: 문제 상황 3개 → 알고리즘 선택 +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노트북 마지막 📝 셀에 이름·학번과 답안을 적고 실행 → 출력 캡처 제출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1920000"/>
        </p:xfrm>
        <a:graphic>
          <a:graphicData uri="http://schemas.openxmlformats.org/drawingml/2006/table">
            <a:tbl>
              <a:tblPr firstRow="0" bandRow="0"/>
              <a:tblGrid>
                <a:gridCol w="600000"/>
                <a:gridCol w="6200000"/>
                <a:gridCol w="2000000"/>
                <a:gridCol w="2272000"/>
              </a:tblGrid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 상황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유형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 (+근거)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매점에서 내일 팔릴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삼각김밥 개수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를 요일·날씨·기온으로 맞히기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급식 반찬 사진이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김치/단무지/깍두기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중 무엇인지 — 판단 규칙을 설명해야 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출석률·과제·중간점수로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기말 통과 여부(예/아니오)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와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확률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알기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3800000"/>
            <a:ext cx="11072000" cy="657200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3860000"/>
            <a:ext cx="50000" cy="53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3900000"/>
            <a:ext cx="1073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근거 쓰는 틀: "정답이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(숫자/종류)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이므로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(회귀/분류)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이고,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(설명이 필요/확률이 필요/직선 관계/비슷한 사례)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하므로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(알고리즘)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을 고른다."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정답은 하나가 아닙니다 —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근거가 맞으면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다른 알고리즘도 인정.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핵심 정리 — 오늘 기억할 세 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00000"/>
            <a:ext cx="11072000" cy="46670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0000" y="1460000"/>
            <a:ext cx="50000" cy="346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0000" y="1500000"/>
            <a:ext cx="10732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</a:rPr>
              <a:t>1. 지도학습 = 정답(라벨)이 붙은 데이터로 특징 → 정답 규칙을 배운다.</a:t>
            </a:r>
            <a:r>
              <a:rPr sz="1400" b="0" i="0">
                <a:solidFill>
                  <a:srgbClr val="1F2937"/>
                </a:solidFill>
                <a:latin typeface="맑은 고딕"/>
                <a:ea typeface="맑은 고딕"/>
              </a:rPr>
              <a:t> fit(학습) → predict(예측).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00" y="2300000"/>
            <a:ext cx="11072000" cy="46670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0000" y="2360000"/>
            <a:ext cx="50000" cy="346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0000" y="2400000"/>
            <a:ext cx="10732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</a:rPr>
              <a:t>2. 맞힐 것이 숫자면 회귀(선형회귀), 종류면 분류(kNN · 결정트리 · 로지스틱 회귀).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3200000"/>
            <a:ext cx="11072000" cy="73340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3260000"/>
            <a:ext cx="50000" cy="613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3300000"/>
            <a:ext cx="10732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</a:rPr>
              <a:t>3. 알고리즘은 목적으로 고른다</a:t>
            </a:r>
            <a:r>
              <a:rPr sz="1400" b="0" i="0">
                <a:solidFill>
                  <a:srgbClr val="1F2937"/>
                </a:solidFill>
                <a:latin typeface="맑은 고딕"/>
                <a:ea typeface="맑은 고딕"/>
              </a:rPr>
              <a:t> — 설명이 필요하면 결정트리, 확률이 필요하면 로지스틱, 직선 관계면 선형회귀, 비슷한 사례로 판단하면 kNN. 그리고 </a:t>
            </a: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</a:rPr>
              <a:t>훈련/테스트를 나눠</a:t>
            </a:r>
            <a:r>
              <a:rPr sz="1400" b="0" i="0">
                <a:solidFill>
                  <a:srgbClr val="1F2937"/>
                </a:solidFill>
                <a:latin typeface="맑은 고딕"/>
                <a:ea typeface="맑은 고딕"/>
              </a:rPr>
              <a:t> 진짜 실력을 잰다.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400000"/>
            <a:ext cx="11072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4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000" y="45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오늘 나온 코드 한 줄 요약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00" y="4920000"/>
            <a:ext cx="10712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4E79"/>
                </a:solidFill>
                <a:latin typeface="맑은 고딕"/>
                <a:ea typeface="맑은 고딕"/>
              </a:rPr>
              <a:t>train_test_split(X, y, test_size=0.25)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→ </a:t>
            </a:r>
            <a:r>
              <a:rPr sz="1200" b="0" i="0">
                <a:solidFill>
                  <a:srgbClr val="1F4E79"/>
                </a:solidFill>
                <a:latin typeface="맑은 고딕"/>
                <a:ea typeface="맑은 고딕"/>
              </a:rPr>
              <a:t>model = KNeighborsClassifier(n_neighbors=5)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→ </a:t>
            </a:r>
            <a:r>
              <a:rPr sz="1200" b="0" i="0">
                <a:solidFill>
                  <a:srgbClr val="1F4E79"/>
                </a:solidFill>
                <a:latin typeface="맑은 고딕"/>
                <a:ea typeface="맑은 고딕"/>
              </a:rPr>
              <a:t>model.fit(X_train, y_train)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→ </a:t>
            </a:r>
            <a:r>
              <a:rPr sz="1200" b="0" i="0">
                <a:solidFill>
                  <a:srgbClr val="1F4E79"/>
                </a:solidFill>
                <a:latin typeface="맑은 고딕"/>
                <a:ea typeface="맑은 고딕"/>
              </a:rPr>
              <a:t>model.score(X_test, y_test)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— 3문제 (정답은 다음 슬라이드)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손들고 답해 봅시다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11072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Q1. 다음 중 "회귀" 문제는?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10712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① 메일이 스팸인지 아닌지  ② 사진 속 과일이 사과/배/귤 중 무엇인지  ③ 아파트 가격(원) 맞히기  ④ 학생이 문과/이과 중 어디를 갈지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" y="2900000"/>
            <a:ext cx="11072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0000" y="29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000" y="30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Q2. kNN에서 k=5 의 뜻은?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000" y="3420000"/>
            <a:ext cx="10712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① 질문을 5번 한다  ② 가장 가까운 이웃 5개의 다수결로 정한다  ③ 데이터를 5조각으로 나눈다  ④ 직선을 5개 그린다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400000"/>
            <a:ext cx="11072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4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000" y="45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Q3. 훈련 데이터로 시험(평가)을 보면 안 되는 이유는?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00" y="4920000"/>
            <a:ext cx="10712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① 시간이 오래 걸려서  ② 외운 것을 다시 묻는 셈이라 실력이 부풀려져서  ③ 파이썬이 허용하지 않아서  ④ 정확도가 항상 0이 되어서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정답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40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i="0">
                <a:solidFill>
                  <a:srgbClr val="1B2A4A"/>
                </a:solidFill>
                <a:latin typeface="맑은 고딕"/>
                <a:ea typeface="맑은 고딕"/>
              </a:rPr>
              <a:t>Q1 → ③</a:t>
            </a: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</a:rPr>
              <a:t>가격은 </a:t>
            </a: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</a:rPr>
              <a:t>연속된 숫자</a:t>
            </a: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</a:rPr>
              <a:t> → 회귀. 나머지는 모두 정해진 종류 중 고르기 → 분류.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i="0">
                <a:solidFill>
                  <a:srgbClr val="1B2A4A"/>
                </a:solidFill>
                <a:latin typeface="맑은 고딕"/>
                <a:ea typeface="맑은 고딕"/>
              </a:rPr>
              <a:t>Q2 → ②</a:t>
            </a: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</a:rPr>
              <a:t>k = 투표에 참여하는 </a:t>
            </a: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</a:rPr>
              <a:t>이웃의 수</a:t>
            </a: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</a:rPr>
              <a:t>. k=1이면 가장 가까운 하나만, 크면 많은 이웃의 다수결.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i="0">
                <a:solidFill>
                  <a:srgbClr val="1B2A4A"/>
                </a:solidFill>
                <a:latin typeface="맑은 고딕"/>
                <a:ea typeface="맑은 고딕"/>
              </a:rPr>
              <a:t>Q3 → ②</a:t>
            </a: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</a:rPr>
              <a:t>공부한 문제집으로 시험을 보는 것과 같다. </a:t>
            </a: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</a:rPr>
              <a:t>처음 보는 테스트 데이터</a:t>
            </a: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</a:rPr>
              <a:t>로 재야 진짜 실력(일반화 능력)이 나온다.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4400000"/>
            <a:ext cx="11072000" cy="428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4460000"/>
            <a:ext cx="50000" cy="308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00" y="4500000"/>
            <a:ext cx="1073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3문제 다 맞혔다면 오늘 성취기준 [인일 03-01] "지도 학습의 특성과 알고리즘의 종류를 파악하여 목적에 맞는 알고리즘을 선정" 달성!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결과 평가 기준 (루브릭)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평가 방법: 실습 결과 평가 — 노트북 📝 제출 셀 출력 캡처 + 알고리즘 선택 근거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3000000"/>
        </p:xfrm>
        <a:graphic>
          <a:graphicData uri="http://schemas.openxmlformats.org/drawingml/2006/table">
            <a:tbl>
              <a:tblPr firstRow="0" bandRow="0"/>
              <a:tblGrid>
                <a:gridCol w="2200000"/>
                <a:gridCol w="2950000"/>
                <a:gridCol w="2950000"/>
                <a:gridCol w="2972000"/>
              </a:tblGrid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 (3)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보통 (2)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노력 요함 (1)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실습 수행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A·B 전 셀 실행, 🧩 2개 완료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전 셀 실행, 🧩 1개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일부 셀 미실행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지도학습 원리 이해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특징·라벨·fit·predict를 예로 설명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용어는 알지만 예시가 불명확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용어 혼동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회귀/분류 구분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3문제 모두 유형 정확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2문제 정확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1문제 이하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알고리즘 선택 근거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목적(설명·확률·직선)과 연결된 근거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유형만 맞고 근거가 약함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근거 없음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9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960000"/>
            <a:ext cx="50000" cy="299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50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제출물: 📝 셀 출력 캡처 1장 (이름·학번·기울기·정확도·답안 3개가 보이게). 여러 답이 가능하므로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근거의 논리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를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다음 시간 예고 — 3회차 지도학습 2 및 모델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"정확도 100%인 모델이 쓸모없을 수도 있다?"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2회차 · 지도학습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다음 시간에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2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훈련은 잘하는데 시험은 못 보는 모델 —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과적합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정확도 말고도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정밀도·재현율·F1·혼동행렬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회귀 지표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MAE · RMSE · R²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교차검증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과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하이퍼파라미터 튜닝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(k, max_depth 정하기)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여러 모델을 비교하고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개선 방향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정하기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오늘 남은 궁금증 (다음 시간 해결)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000" y="1920000"/>
            <a:ext cx="5040000" cy="2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kNN의 k는 도대체 몇으로 해야 하나?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결정트리를 더 깊게 하면 항상 좋아지나?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iris는 왜 다 100%가 나오나 — 어려운 데이터에서는?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"틀렸다"에도 종류가 있다? (병을 놓치는 것 vs 멀쩡한데 병이라 하는 것)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500000"/>
            <a:ext cx="11072000" cy="428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560000"/>
            <a:ext cx="50000" cy="308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0000" y="4600000"/>
            <a:ext cx="1073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과제(선택): 노트북 🧩2에서 k를 100까지 넣어 보고, 정확도가 떨어지기 시작하는 k를 찾아 오기.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